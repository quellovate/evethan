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3"/>
  </p:notesMasterIdLst>
  <p:sldIdLst>
    <p:sldId id="313" r:id="rId2"/>
    <p:sldId id="260" r:id="rId3"/>
    <p:sldId id="270" r:id="rId4"/>
    <p:sldId id="263" r:id="rId5"/>
    <p:sldId id="264" r:id="rId6"/>
    <p:sldId id="273" r:id="rId7"/>
    <p:sldId id="269" r:id="rId8"/>
    <p:sldId id="274" r:id="rId9"/>
    <p:sldId id="258" r:id="rId10"/>
    <p:sldId id="309" r:id="rId11"/>
    <p:sldId id="280" r:id="rId12"/>
    <p:sldId id="281" r:id="rId13"/>
    <p:sldId id="311" r:id="rId14"/>
    <p:sldId id="299" r:id="rId15"/>
    <p:sldId id="297" r:id="rId16"/>
    <p:sldId id="298" r:id="rId17"/>
    <p:sldId id="301" r:id="rId18"/>
    <p:sldId id="304" r:id="rId19"/>
    <p:sldId id="312" r:id="rId20"/>
    <p:sldId id="315" r:id="rId21"/>
    <p:sldId id="31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F4F1"/>
    <a:srgbClr val="FADBDF"/>
    <a:srgbClr val="FEF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42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36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26854-AFD0-4BB7-8D7E-256BAF8926A9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F3CE72-7DEB-440A-9BEE-56C84750A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48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earn.microsoft.com/en-us/windows/win32/api/winuser/ns-winuser-msllhookstruct" TargetMode="External"/><Relationship Id="rId3" Type="http://schemas.openxmlformats.org/officeDocument/2006/relationships/hyperlink" Target="https://learn.microsoft.com/zh-cn/windows/win32/api/winuser/ns-winuser-kbdllhookstruc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BE0625-8409-6D5A-3813-379B706BFE99}"/>
              </a:ext>
            </a:extLst>
          </p:cNvPr>
          <p:cNvSpPr txBox="1"/>
          <p:nvPr/>
        </p:nvSpPr>
        <p:spPr>
          <a:xfrm>
            <a:off x="1456764" y="3136612"/>
            <a:ext cx="92784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一些原始设计（非现有架构）和乱七八糟的东西</a:t>
            </a:r>
          </a:p>
        </p:txBody>
      </p:sp>
    </p:spTree>
    <p:extLst>
      <p:ext uri="{BB962C8B-B14F-4D97-AF65-F5344CB8AC3E}">
        <p14:creationId xmlns:p14="http://schemas.microsoft.com/office/powerpoint/2010/main" val="125210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2CE2-1F28-C9E7-ECAB-FF136320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F5B737-AF0C-6305-70D1-95A9C4AE99E7}"/>
              </a:ext>
            </a:extLst>
          </p:cNvPr>
          <p:cNvSpPr/>
          <p:nvPr/>
        </p:nvSpPr>
        <p:spPr>
          <a:xfrm>
            <a:off x="802200" y="340752"/>
            <a:ext cx="10762271" cy="59483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803CD0-C904-91AC-36AD-58A06F33CEC5}"/>
              </a:ext>
            </a:extLst>
          </p:cNvPr>
          <p:cNvSpPr/>
          <p:nvPr/>
        </p:nvSpPr>
        <p:spPr>
          <a:xfrm>
            <a:off x="1425204" y="916250"/>
            <a:ext cx="1253765" cy="4524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执行任务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1EE57E-6FA0-48B3-3F78-30CB7D6D1B02}"/>
              </a:ext>
            </a:extLst>
          </p:cNvPr>
          <p:cNvSpPr txBox="1"/>
          <p:nvPr/>
        </p:nvSpPr>
        <p:spPr>
          <a:xfrm>
            <a:off x="1101734" y="409826"/>
            <a:ext cx="190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GUI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91FC03-8560-F689-113F-A83CCB38ADC9}"/>
              </a:ext>
            </a:extLst>
          </p:cNvPr>
          <p:cNvSpPr/>
          <p:nvPr/>
        </p:nvSpPr>
        <p:spPr>
          <a:xfrm>
            <a:off x="1425204" y="1568828"/>
            <a:ext cx="4383741" cy="29135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8F90FB-D698-3D8F-6B5E-50C017CC2D05}"/>
              </a:ext>
            </a:extLst>
          </p:cNvPr>
          <p:cNvSpPr/>
          <p:nvPr/>
        </p:nvSpPr>
        <p:spPr>
          <a:xfrm>
            <a:off x="5262282" y="1876026"/>
            <a:ext cx="349624" cy="2339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滚动条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D58D0E-4D17-E09B-5949-ECF10297A806}"/>
              </a:ext>
            </a:extLst>
          </p:cNvPr>
          <p:cNvSpPr/>
          <p:nvPr/>
        </p:nvSpPr>
        <p:spPr>
          <a:xfrm>
            <a:off x="1621872" y="2061882"/>
            <a:ext cx="1380565" cy="349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1EEC06-DE86-7F9E-8E39-54E4CDD8ACED}"/>
              </a:ext>
            </a:extLst>
          </p:cNvPr>
          <p:cNvSpPr/>
          <p:nvPr/>
        </p:nvSpPr>
        <p:spPr>
          <a:xfrm>
            <a:off x="1621872" y="2707341"/>
            <a:ext cx="1380565" cy="349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A1FA2-AF71-181A-4919-AC6499635EFB}"/>
              </a:ext>
            </a:extLst>
          </p:cNvPr>
          <p:cNvSpPr/>
          <p:nvPr/>
        </p:nvSpPr>
        <p:spPr>
          <a:xfrm>
            <a:off x="1621871" y="3314909"/>
            <a:ext cx="1380565" cy="349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F9B50F-A58E-4E2F-2D76-5093D81EB0CB}"/>
              </a:ext>
            </a:extLst>
          </p:cNvPr>
          <p:cNvSpPr/>
          <p:nvPr/>
        </p:nvSpPr>
        <p:spPr>
          <a:xfrm>
            <a:off x="3352061" y="2061882"/>
            <a:ext cx="1380565" cy="349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说明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1AC47B-9C2B-B721-3A5D-EE9277414279}"/>
              </a:ext>
            </a:extLst>
          </p:cNvPr>
          <p:cNvSpPr/>
          <p:nvPr/>
        </p:nvSpPr>
        <p:spPr>
          <a:xfrm>
            <a:off x="3352060" y="2707341"/>
            <a:ext cx="1380565" cy="349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说明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5FCE95-5DF7-C6D4-6A05-21D3EEFCEADE}"/>
              </a:ext>
            </a:extLst>
          </p:cNvPr>
          <p:cNvSpPr/>
          <p:nvPr/>
        </p:nvSpPr>
        <p:spPr>
          <a:xfrm>
            <a:off x="3352060" y="3292450"/>
            <a:ext cx="1380565" cy="349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说明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8BB4D3-4447-6BC4-FC6E-E317F1B2CA09}"/>
              </a:ext>
            </a:extLst>
          </p:cNvPr>
          <p:cNvSpPr txBox="1"/>
          <p:nvPr/>
        </p:nvSpPr>
        <p:spPr>
          <a:xfrm>
            <a:off x="1425204" y="4738159"/>
            <a:ext cx="195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是否显示日志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89876D-4D97-26B6-47F5-4167F443E58C}"/>
              </a:ext>
            </a:extLst>
          </p:cNvPr>
          <p:cNvSpPr txBox="1"/>
          <p:nvPr/>
        </p:nvSpPr>
        <p:spPr>
          <a:xfrm>
            <a:off x="6005613" y="1631576"/>
            <a:ext cx="2411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该界面应自动读取并显示项目文件夹下的任务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6EDAB0-02C4-EB9D-6F6C-FA3A7484BB44}"/>
              </a:ext>
            </a:extLst>
          </p:cNvPr>
          <p:cNvSpPr txBox="1"/>
          <p:nvPr/>
        </p:nvSpPr>
        <p:spPr>
          <a:xfrm>
            <a:off x="1518778" y="1630689"/>
            <a:ext cx="3213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当前选择：未选择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F678F7-2483-11F9-9331-32F216CD90B9}"/>
              </a:ext>
            </a:extLst>
          </p:cNvPr>
          <p:cNvSpPr txBox="1"/>
          <p:nvPr/>
        </p:nvSpPr>
        <p:spPr>
          <a:xfrm>
            <a:off x="1518778" y="5227311"/>
            <a:ext cx="4360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日志：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任务暂停中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任务进行中：当前正在阶段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(x/N)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CED27D-9ECE-A316-8160-6CFB0EDD6190}"/>
              </a:ext>
            </a:extLst>
          </p:cNvPr>
          <p:cNvSpPr/>
          <p:nvPr/>
        </p:nvSpPr>
        <p:spPr>
          <a:xfrm>
            <a:off x="3020921" y="916250"/>
            <a:ext cx="1253765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任务管理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B74E85-DD94-C555-712C-012646A400AF}"/>
              </a:ext>
            </a:extLst>
          </p:cNvPr>
          <p:cNvSpPr/>
          <p:nvPr/>
        </p:nvSpPr>
        <p:spPr>
          <a:xfrm>
            <a:off x="4616638" y="916250"/>
            <a:ext cx="1685550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任务编辑器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1AA38D-37DB-1FDD-2E3F-FBEA7B0FAD55}"/>
              </a:ext>
            </a:extLst>
          </p:cNvPr>
          <p:cNvSpPr/>
          <p:nvPr/>
        </p:nvSpPr>
        <p:spPr>
          <a:xfrm>
            <a:off x="10094259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测距仪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6BAD3B-BC7C-1BA8-5F1C-1B09E1C7ED80}"/>
              </a:ext>
            </a:extLst>
          </p:cNvPr>
          <p:cNvSpPr/>
          <p:nvPr/>
        </p:nvSpPr>
        <p:spPr>
          <a:xfrm>
            <a:off x="8734454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定位仪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29BFD8-FCF4-FE6B-7562-E98C0765D44D}"/>
              </a:ext>
            </a:extLst>
          </p:cNvPr>
          <p:cNvSpPr txBox="1"/>
          <p:nvPr/>
        </p:nvSpPr>
        <p:spPr>
          <a:xfrm>
            <a:off x="8422897" y="2882153"/>
            <a:ext cx="2850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进入“执行任务”界面，选择任务后后按下快捷键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f9/alt+9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开始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f10/alt+10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暂停</a:t>
            </a:r>
          </a:p>
        </p:txBody>
      </p:sp>
    </p:spTree>
    <p:extLst>
      <p:ext uri="{BB962C8B-B14F-4D97-AF65-F5344CB8AC3E}">
        <p14:creationId xmlns:p14="http://schemas.microsoft.com/office/powerpoint/2010/main" val="3674889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9B813-F39E-72D4-2C94-324CCB02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72931B-B15C-B125-6654-35C640993890}"/>
              </a:ext>
            </a:extLst>
          </p:cNvPr>
          <p:cNvSpPr/>
          <p:nvPr/>
        </p:nvSpPr>
        <p:spPr>
          <a:xfrm>
            <a:off x="802201" y="340752"/>
            <a:ext cx="10762270" cy="594831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842C37-DF10-F308-E120-F5B8CF11CAF7}"/>
              </a:ext>
            </a:extLst>
          </p:cNvPr>
          <p:cNvSpPr/>
          <p:nvPr/>
        </p:nvSpPr>
        <p:spPr>
          <a:xfrm>
            <a:off x="3020921" y="916250"/>
            <a:ext cx="1253765" cy="4524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任务管理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FE5049-2B09-3AA2-A7D8-259488CDFA83}"/>
              </a:ext>
            </a:extLst>
          </p:cNvPr>
          <p:cNvSpPr txBox="1"/>
          <p:nvPr/>
        </p:nvSpPr>
        <p:spPr>
          <a:xfrm>
            <a:off x="1101734" y="409826"/>
            <a:ext cx="190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GUI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98D0BD-A53D-D77E-CF69-7DD8194C4A02}"/>
              </a:ext>
            </a:extLst>
          </p:cNvPr>
          <p:cNvSpPr/>
          <p:nvPr/>
        </p:nvSpPr>
        <p:spPr>
          <a:xfrm>
            <a:off x="9171078" y="1368736"/>
            <a:ext cx="1649507" cy="4696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48DCF2-5550-3F8D-A2CD-1C568523BA66}"/>
              </a:ext>
            </a:extLst>
          </p:cNvPr>
          <p:cNvSpPr/>
          <p:nvPr/>
        </p:nvSpPr>
        <p:spPr>
          <a:xfrm>
            <a:off x="6709812" y="1212264"/>
            <a:ext cx="1649507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一键修改参数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ED8CA7-B84A-4C91-2D70-B35A40285551}"/>
              </a:ext>
            </a:extLst>
          </p:cNvPr>
          <p:cNvSpPr txBox="1"/>
          <p:nvPr/>
        </p:nvSpPr>
        <p:spPr>
          <a:xfrm>
            <a:off x="9611268" y="1547827"/>
            <a:ext cx="116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基础指令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CD5353-577B-127A-F5ED-6284E485BF41}"/>
              </a:ext>
            </a:extLst>
          </p:cNvPr>
          <p:cNvSpPr/>
          <p:nvPr/>
        </p:nvSpPr>
        <p:spPr>
          <a:xfrm>
            <a:off x="10094259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测距仪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DAF496-21F2-289E-4405-CE1F8B66EBA3}"/>
              </a:ext>
            </a:extLst>
          </p:cNvPr>
          <p:cNvSpPr/>
          <p:nvPr/>
        </p:nvSpPr>
        <p:spPr>
          <a:xfrm>
            <a:off x="1015544" y="149488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鼠标移动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A3D76B4-B27E-DE35-B106-6449540B3EDC}"/>
              </a:ext>
            </a:extLst>
          </p:cNvPr>
          <p:cNvSpPr/>
          <p:nvPr/>
        </p:nvSpPr>
        <p:spPr>
          <a:xfrm>
            <a:off x="1726361" y="1752794"/>
            <a:ext cx="2589120" cy="8410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移动到坐标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工具（开启后可定位坐标）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B287C38-48BE-BD27-A5F8-FD730E97C84F}"/>
              </a:ext>
            </a:extLst>
          </p:cNvPr>
          <p:cNvSpPr/>
          <p:nvPr/>
        </p:nvSpPr>
        <p:spPr>
          <a:xfrm>
            <a:off x="983170" y="266534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固定鼠标点击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A031791-6780-E90A-0836-8598B9F9114E}"/>
              </a:ext>
            </a:extLst>
          </p:cNvPr>
          <p:cNvSpPr/>
          <p:nvPr/>
        </p:nvSpPr>
        <p:spPr>
          <a:xfrm>
            <a:off x="1693987" y="2927197"/>
            <a:ext cx="2621494" cy="13369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点击坐标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定位工具（开启后可定位坐标）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点击次数：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点击间隔：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17586E8-1D06-AFA2-E951-FD8E2C1AB7F4}"/>
              </a:ext>
            </a:extLst>
          </p:cNvPr>
          <p:cNvSpPr/>
          <p:nvPr/>
        </p:nvSpPr>
        <p:spPr>
          <a:xfrm>
            <a:off x="983170" y="4439431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849624C-E27C-4E1C-64A3-B3646B821D5C}"/>
              </a:ext>
            </a:extLst>
          </p:cNvPr>
          <p:cNvSpPr/>
          <p:nvPr/>
        </p:nvSpPr>
        <p:spPr>
          <a:xfrm>
            <a:off x="1693987" y="4671441"/>
            <a:ext cx="2621494" cy="15411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图片置信度：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0.7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偏移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0 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测距工具（开启后可测量坐标）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点击次数：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点击间隔：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55C8CA6-5294-1FCC-3EDE-3D5878B712B7}"/>
              </a:ext>
            </a:extLst>
          </p:cNvPr>
          <p:cNvSpPr/>
          <p:nvPr/>
        </p:nvSpPr>
        <p:spPr>
          <a:xfrm>
            <a:off x="8734454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定位仪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82EC670-C438-7385-0407-E15319C47DCF}"/>
              </a:ext>
            </a:extLst>
          </p:cNvPr>
          <p:cNvSpPr/>
          <p:nvPr/>
        </p:nvSpPr>
        <p:spPr>
          <a:xfrm>
            <a:off x="5077124" y="344994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找图后鼠标长按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4552725-7DFF-32F7-51FE-6EFA8753ADC5}"/>
              </a:ext>
            </a:extLst>
          </p:cNvPr>
          <p:cNvSpPr/>
          <p:nvPr/>
        </p:nvSpPr>
        <p:spPr>
          <a:xfrm>
            <a:off x="5077124" y="149488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固定鼠标长按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BC1A86D-3691-E853-84D1-2B05AAE60107}"/>
              </a:ext>
            </a:extLst>
          </p:cNvPr>
          <p:cNvSpPr/>
          <p:nvPr/>
        </p:nvSpPr>
        <p:spPr>
          <a:xfrm>
            <a:off x="5710828" y="1752794"/>
            <a:ext cx="2621494" cy="1533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定位工具（开启后可定位坐标）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长按时间：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连续长按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次数：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操作结束后等待：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1DFE66-5F26-ECD7-F30F-405338BD528D}"/>
              </a:ext>
            </a:extLst>
          </p:cNvPr>
          <p:cNvSpPr/>
          <p:nvPr/>
        </p:nvSpPr>
        <p:spPr>
          <a:xfrm>
            <a:off x="5710828" y="3716817"/>
            <a:ext cx="2621494" cy="17516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图片置信度：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偏移坐标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0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测距工具（开启后可测量坐标）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长按时间：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连续长按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次数：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操作结束后等待：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CDF2CC-7CB7-B681-A083-9A602487E76F}"/>
              </a:ext>
            </a:extLst>
          </p:cNvPr>
          <p:cNvSpPr/>
          <p:nvPr/>
        </p:nvSpPr>
        <p:spPr>
          <a:xfrm>
            <a:off x="1425204" y="916250"/>
            <a:ext cx="1253765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执行任务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EEC3ED-D345-95C9-A14A-1A591DADFD1D}"/>
              </a:ext>
            </a:extLst>
          </p:cNvPr>
          <p:cNvSpPr/>
          <p:nvPr/>
        </p:nvSpPr>
        <p:spPr>
          <a:xfrm>
            <a:off x="4616638" y="916250"/>
            <a:ext cx="1685550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任务编辑器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F8A309-96BB-F442-0834-C77656262652}"/>
              </a:ext>
            </a:extLst>
          </p:cNvPr>
          <p:cNvSpPr/>
          <p:nvPr/>
        </p:nvSpPr>
        <p:spPr>
          <a:xfrm>
            <a:off x="9291370" y="1956199"/>
            <a:ext cx="1408922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2C06D9-D8AE-5CAA-ACC9-9CF6B0B39484}"/>
              </a:ext>
            </a:extLst>
          </p:cNvPr>
          <p:cNvSpPr/>
          <p:nvPr/>
        </p:nvSpPr>
        <p:spPr>
          <a:xfrm>
            <a:off x="9364734" y="2969001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E42C03-56B5-2F5F-2D51-D479ACE65EBD}"/>
              </a:ext>
            </a:extLst>
          </p:cNvPr>
          <p:cNvSpPr/>
          <p:nvPr/>
        </p:nvSpPr>
        <p:spPr>
          <a:xfrm>
            <a:off x="9364734" y="230042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鼠标移动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F917CF-E922-DD89-8500-40E1A749628D}"/>
              </a:ext>
            </a:extLst>
          </p:cNvPr>
          <p:cNvSpPr/>
          <p:nvPr/>
        </p:nvSpPr>
        <p:spPr>
          <a:xfrm>
            <a:off x="9291370" y="4335791"/>
            <a:ext cx="1408922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49A420-9555-DC6C-75E2-7C5EA86A2827}"/>
              </a:ext>
            </a:extLst>
          </p:cNvPr>
          <p:cNvSpPr/>
          <p:nvPr/>
        </p:nvSpPr>
        <p:spPr>
          <a:xfrm>
            <a:off x="9364734" y="4998652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键盘长按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763165-A0AA-EE71-7B38-A75A698BDB06}"/>
              </a:ext>
            </a:extLst>
          </p:cNvPr>
          <p:cNvSpPr/>
          <p:nvPr/>
        </p:nvSpPr>
        <p:spPr>
          <a:xfrm>
            <a:off x="9364734" y="4671441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键盘触发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762EB81-DE78-741B-CDB1-A1D159CD6AFC}"/>
              </a:ext>
            </a:extLst>
          </p:cNvPr>
          <p:cNvSpPr/>
          <p:nvPr/>
        </p:nvSpPr>
        <p:spPr>
          <a:xfrm>
            <a:off x="9291370" y="5370373"/>
            <a:ext cx="1408922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流程控制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03AAB6-B33B-5AFB-96C3-F99A4410A109}"/>
              </a:ext>
            </a:extLst>
          </p:cNvPr>
          <p:cNvSpPr/>
          <p:nvPr/>
        </p:nvSpPr>
        <p:spPr>
          <a:xfrm>
            <a:off x="9364734" y="3302522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36F0E4-3A58-DD09-4D18-9BC40E561DBC}"/>
              </a:ext>
            </a:extLst>
          </p:cNvPr>
          <p:cNvSpPr/>
          <p:nvPr/>
        </p:nvSpPr>
        <p:spPr>
          <a:xfrm>
            <a:off x="9364734" y="3980938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找图后鼠标长按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BC9C905-A8CF-0D34-C2E5-C9364F963C06}"/>
              </a:ext>
            </a:extLst>
          </p:cNvPr>
          <p:cNvSpPr/>
          <p:nvPr/>
        </p:nvSpPr>
        <p:spPr>
          <a:xfrm>
            <a:off x="9364734" y="3637754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自定义鼠标长按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BEC315-681B-F72B-67F4-1F98D9B17E94}"/>
              </a:ext>
            </a:extLst>
          </p:cNvPr>
          <p:cNvSpPr/>
          <p:nvPr/>
        </p:nvSpPr>
        <p:spPr>
          <a:xfrm>
            <a:off x="9362126" y="5727646"/>
            <a:ext cx="1267408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B9AD98E-738C-294A-BC9E-B40C948C2BAA}"/>
              </a:ext>
            </a:extLst>
          </p:cNvPr>
          <p:cNvSpPr/>
          <p:nvPr/>
        </p:nvSpPr>
        <p:spPr>
          <a:xfrm>
            <a:off x="9367263" y="263231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滚轮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133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C88D2-FC09-B762-AF48-7E96E454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D5E341E-B473-0799-87A7-C192359EEBD6}"/>
              </a:ext>
            </a:extLst>
          </p:cNvPr>
          <p:cNvSpPr/>
          <p:nvPr/>
        </p:nvSpPr>
        <p:spPr>
          <a:xfrm>
            <a:off x="802201" y="340752"/>
            <a:ext cx="10762270" cy="594831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AEF453-F156-917D-4325-7BB1AECEFAA6}"/>
              </a:ext>
            </a:extLst>
          </p:cNvPr>
          <p:cNvSpPr/>
          <p:nvPr/>
        </p:nvSpPr>
        <p:spPr>
          <a:xfrm>
            <a:off x="3020921" y="916250"/>
            <a:ext cx="1253765" cy="4524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任务管理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0DC596-04C6-4FDA-74A1-D824447A9BC5}"/>
              </a:ext>
            </a:extLst>
          </p:cNvPr>
          <p:cNvSpPr txBox="1"/>
          <p:nvPr/>
        </p:nvSpPr>
        <p:spPr>
          <a:xfrm>
            <a:off x="1101734" y="409826"/>
            <a:ext cx="190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GUI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DDD4C6-DFC1-5D5B-E6E1-6F1C08897B0E}"/>
              </a:ext>
            </a:extLst>
          </p:cNvPr>
          <p:cNvSpPr/>
          <p:nvPr/>
        </p:nvSpPr>
        <p:spPr>
          <a:xfrm>
            <a:off x="9171078" y="1368736"/>
            <a:ext cx="1649507" cy="4696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8BC737-7733-193E-FB53-27AB43ADD04E}"/>
              </a:ext>
            </a:extLst>
          </p:cNvPr>
          <p:cNvSpPr/>
          <p:nvPr/>
        </p:nvSpPr>
        <p:spPr>
          <a:xfrm>
            <a:off x="6709812" y="1212264"/>
            <a:ext cx="1649507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一键修改参数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356432-C4B0-96B3-0C15-C15A41111053}"/>
              </a:ext>
            </a:extLst>
          </p:cNvPr>
          <p:cNvSpPr txBox="1"/>
          <p:nvPr/>
        </p:nvSpPr>
        <p:spPr>
          <a:xfrm>
            <a:off x="9611268" y="1547827"/>
            <a:ext cx="116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基础指令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B5CDDB-E695-B628-287C-8296C8D599C1}"/>
              </a:ext>
            </a:extLst>
          </p:cNvPr>
          <p:cNvSpPr/>
          <p:nvPr/>
        </p:nvSpPr>
        <p:spPr>
          <a:xfrm>
            <a:off x="10094259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测距仪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739E9-A4B2-07FF-0744-2C0638A002DC}"/>
              </a:ext>
            </a:extLst>
          </p:cNvPr>
          <p:cNvSpPr/>
          <p:nvPr/>
        </p:nvSpPr>
        <p:spPr>
          <a:xfrm>
            <a:off x="1136875" y="263231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偏移鼠标点击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C293C14-8DDA-07BC-0890-07D79D00A248}"/>
              </a:ext>
            </a:extLst>
          </p:cNvPr>
          <p:cNvSpPr/>
          <p:nvPr/>
        </p:nvSpPr>
        <p:spPr>
          <a:xfrm>
            <a:off x="1847692" y="2894171"/>
            <a:ext cx="2621494" cy="13878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偏移坐标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y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测距工具（开启后可定位坐标）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点击次数：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点击间隔：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E1D3BB1-15A7-AC43-6D8E-0DD88A5890CA}"/>
              </a:ext>
            </a:extLst>
          </p:cNvPr>
          <p:cNvSpPr/>
          <p:nvPr/>
        </p:nvSpPr>
        <p:spPr>
          <a:xfrm>
            <a:off x="8734454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定位仪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0D93D85-7F7E-0327-ED3C-920E1CB64B55}"/>
              </a:ext>
            </a:extLst>
          </p:cNvPr>
          <p:cNvSpPr/>
          <p:nvPr/>
        </p:nvSpPr>
        <p:spPr>
          <a:xfrm>
            <a:off x="4810691" y="263231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偏移鼠标长按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23F151-1BFE-BD2F-3208-377B5B5A408C}"/>
              </a:ext>
            </a:extLst>
          </p:cNvPr>
          <p:cNvSpPr/>
          <p:nvPr/>
        </p:nvSpPr>
        <p:spPr>
          <a:xfrm>
            <a:off x="5444395" y="2890224"/>
            <a:ext cx="2621494" cy="1533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偏移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测距工具（开启后可定位坐标）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长按时间：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连续长按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次数：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操作结束后等待：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32D432-762E-6A04-061C-E3EA4FDB5E15}"/>
              </a:ext>
            </a:extLst>
          </p:cNvPr>
          <p:cNvSpPr/>
          <p:nvPr/>
        </p:nvSpPr>
        <p:spPr>
          <a:xfrm>
            <a:off x="1425204" y="916250"/>
            <a:ext cx="1253765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执行任务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0AFC22-1F6E-CFB8-BCA5-F90E8339244F}"/>
              </a:ext>
            </a:extLst>
          </p:cNvPr>
          <p:cNvSpPr/>
          <p:nvPr/>
        </p:nvSpPr>
        <p:spPr>
          <a:xfrm>
            <a:off x="4616638" y="916250"/>
            <a:ext cx="1685550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任务编辑器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C3DF42-B519-428D-3241-7C451C6D3752}"/>
              </a:ext>
            </a:extLst>
          </p:cNvPr>
          <p:cNvSpPr/>
          <p:nvPr/>
        </p:nvSpPr>
        <p:spPr>
          <a:xfrm>
            <a:off x="9291370" y="1956199"/>
            <a:ext cx="1408922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C23FA6-AC67-E95F-36D7-A6CF75C7E9D5}"/>
              </a:ext>
            </a:extLst>
          </p:cNvPr>
          <p:cNvSpPr/>
          <p:nvPr/>
        </p:nvSpPr>
        <p:spPr>
          <a:xfrm>
            <a:off x="9364734" y="2969001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117F38-1206-7D1E-7174-05179771947D}"/>
              </a:ext>
            </a:extLst>
          </p:cNvPr>
          <p:cNvSpPr/>
          <p:nvPr/>
        </p:nvSpPr>
        <p:spPr>
          <a:xfrm>
            <a:off x="9364734" y="230042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鼠标移动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F47E0A-E4C4-C9F2-6FD0-FD821718338E}"/>
              </a:ext>
            </a:extLst>
          </p:cNvPr>
          <p:cNvSpPr/>
          <p:nvPr/>
        </p:nvSpPr>
        <p:spPr>
          <a:xfrm>
            <a:off x="9291370" y="4335791"/>
            <a:ext cx="1408922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3E3F2A-71A4-AA83-800F-A99F36ECC7DA}"/>
              </a:ext>
            </a:extLst>
          </p:cNvPr>
          <p:cNvSpPr/>
          <p:nvPr/>
        </p:nvSpPr>
        <p:spPr>
          <a:xfrm>
            <a:off x="9364734" y="4998652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键盘长按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8AC022-0AF1-F09B-A312-628232EF816E}"/>
              </a:ext>
            </a:extLst>
          </p:cNvPr>
          <p:cNvSpPr/>
          <p:nvPr/>
        </p:nvSpPr>
        <p:spPr>
          <a:xfrm>
            <a:off x="9364734" y="4671441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键盘触发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6EC7DB-6940-576B-0EE7-8AB6F5FE33B8}"/>
              </a:ext>
            </a:extLst>
          </p:cNvPr>
          <p:cNvSpPr/>
          <p:nvPr/>
        </p:nvSpPr>
        <p:spPr>
          <a:xfrm>
            <a:off x="9291370" y="5370373"/>
            <a:ext cx="1408922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流程控制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66C9CA-30F7-C501-18DA-C45682142066}"/>
              </a:ext>
            </a:extLst>
          </p:cNvPr>
          <p:cNvSpPr/>
          <p:nvPr/>
        </p:nvSpPr>
        <p:spPr>
          <a:xfrm>
            <a:off x="9364734" y="3302522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386BE4C-2AAD-2C4F-9DAE-9CAF4F9DE0D5}"/>
              </a:ext>
            </a:extLst>
          </p:cNvPr>
          <p:cNvSpPr/>
          <p:nvPr/>
        </p:nvSpPr>
        <p:spPr>
          <a:xfrm>
            <a:off x="9364734" y="3980938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找图后鼠标长按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29E8D12-386D-523C-1C46-443D65945CA3}"/>
              </a:ext>
            </a:extLst>
          </p:cNvPr>
          <p:cNvSpPr/>
          <p:nvPr/>
        </p:nvSpPr>
        <p:spPr>
          <a:xfrm>
            <a:off x="9364734" y="3637754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自定义鼠标长按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4A521D-F270-D5E0-2529-F73AFB97009F}"/>
              </a:ext>
            </a:extLst>
          </p:cNvPr>
          <p:cNvSpPr/>
          <p:nvPr/>
        </p:nvSpPr>
        <p:spPr>
          <a:xfrm>
            <a:off x="9362126" y="5727646"/>
            <a:ext cx="1267408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C6503B1-AB9D-27A7-9749-7B87B4FD4BDB}"/>
              </a:ext>
            </a:extLst>
          </p:cNvPr>
          <p:cNvSpPr/>
          <p:nvPr/>
        </p:nvSpPr>
        <p:spPr>
          <a:xfrm>
            <a:off x="9367263" y="263231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滚轮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495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D08E-A1CC-96D3-394A-A12F5341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E210AFB-5ED8-0AB8-87F7-F3696BAE4C17}"/>
              </a:ext>
            </a:extLst>
          </p:cNvPr>
          <p:cNvSpPr/>
          <p:nvPr/>
        </p:nvSpPr>
        <p:spPr>
          <a:xfrm>
            <a:off x="802201" y="340752"/>
            <a:ext cx="10762270" cy="594831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35D49E-4D14-CDCC-AE43-63127A83F8CD}"/>
              </a:ext>
            </a:extLst>
          </p:cNvPr>
          <p:cNvSpPr txBox="1"/>
          <p:nvPr/>
        </p:nvSpPr>
        <p:spPr>
          <a:xfrm>
            <a:off x="1101734" y="409826"/>
            <a:ext cx="190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GUI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35783E-F7AC-33E9-E0E3-0C1A0728BC91}"/>
              </a:ext>
            </a:extLst>
          </p:cNvPr>
          <p:cNvSpPr/>
          <p:nvPr/>
        </p:nvSpPr>
        <p:spPr>
          <a:xfrm>
            <a:off x="9171078" y="1368736"/>
            <a:ext cx="1649507" cy="4696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5C145B-817E-5B8E-0EE3-A6A4532F8986}"/>
              </a:ext>
            </a:extLst>
          </p:cNvPr>
          <p:cNvSpPr txBox="1"/>
          <p:nvPr/>
        </p:nvSpPr>
        <p:spPr>
          <a:xfrm>
            <a:off x="9611268" y="1547827"/>
            <a:ext cx="116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基础指令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CC6F83-ABBD-310C-1CA8-506A6BE1AD5E}"/>
              </a:ext>
            </a:extLst>
          </p:cNvPr>
          <p:cNvSpPr/>
          <p:nvPr/>
        </p:nvSpPr>
        <p:spPr>
          <a:xfrm>
            <a:off x="10094259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测距仪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532E53-8801-51C8-6B82-6B7A30FA97E3}"/>
              </a:ext>
            </a:extLst>
          </p:cNvPr>
          <p:cNvSpPr/>
          <p:nvPr/>
        </p:nvSpPr>
        <p:spPr>
          <a:xfrm>
            <a:off x="1015544" y="1494887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键盘触发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778116D-C1A0-6DCD-133E-85DC7FF9EBA7}"/>
              </a:ext>
            </a:extLst>
          </p:cNvPr>
          <p:cNvSpPr/>
          <p:nvPr/>
        </p:nvSpPr>
        <p:spPr>
          <a:xfrm>
            <a:off x="1726361" y="1752794"/>
            <a:ext cx="2589120" cy="10067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键码（按下的按键，包括组合键）：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触发次数：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触发间隔：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390D4AC-05E9-F19A-FF3C-4F042C81D8E7}"/>
              </a:ext>
            </a:extLst>
          </p:cNvPr>
          <p:cNvSpPr/>
          <p:nvPr/>
        </p:nvSpPr>
        <p:spPr>
          <a:xfrm>
            <a:off x="983170" y="2853602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键盘长按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1705069-0211-2815-FE01-0E8156A74D98}"/>
              </a:ext>
            </a:extLst>
          </p:cNvPr>
          <p:cNvSpPr/>
          <p:nvPr/>
        </p:nvSpPr>
        <p:spPr>
          <a:xfrm>
            <a:off x="1693987" y="3115457"/>
            <a:ext cx="2621494" cy="121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键码（按下的按键，包括组合键）：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长按时间：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连续长按次数：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长按间隔：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0DCEF9D-91D2-111E-E49D-7378C8E291E3}"/>
              </a:ext>
            </a:extLst>
          </p:cNvPr>
          <p:cNvSpPr/>
          <p:nvPr/>
        </p:nvSpPr>
        <p:spPr>
          <a:xfrm>
            <a:off x="983170" y="4501075"/>
            <a:ext cx="1267408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6A2F18A-EAD2-1C27-53C6-5557738F0A63}"/>
              </a:ext>
            </a:extLst>
          </p:cNvPr>
          <p:cNvSpPr/>
          <p:nvPr/>
        </p:nvSpPr>
        <p:spPr>
          <a:xfrm>
            <a:off x="1693987" y="4755362"/>
            <a:ext cx="2621494" cy="6363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图片置信度：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0.7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392CD2-86CF-C67B-DE69-236690D5782F}"/>
              </a:ext>
            </a:extLst>
          </p:cNvPr>
          <p:cNvSpPr/>
          <p:nvPr/>
        </p:nvSpPr>
        <p:spPr>
          <a:xfrm>
            <a:off x="8734454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定位仪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3A51AE-5B2D-6ACA-EE2E-D940A8272600}"/>
              </a:ext>
            </a:extLst>
          </p:cNvPr>
          <p:cNvSpPr/>
          <p:nvPr/>
        </p:nvSpPr>
        <p:spPr>
          <a:xfrm>
            <a:off x="6709812" y="1212264"/>
            <a:ext cx="1649507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一键修改参数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7D2EB3-A80D-1DEF-F2B5-30C16331C9BF}"/>
              </a:ext>
            </a:extLst>
          </p:cNvPr>
          <p:cNvSpPr/>
          <p:nvPr/>
        </p:nvSpPr>
        <p:spPr>
          <a:xfrm>
            <a:off x="3020921" y="916250"/>
            <a:ext cx="1253765" cy="4524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任务管理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632B15-41B3-9C75-D3A9-E86D9B2B219B}"/>
              </a:ext>
            </a:extLst>
          </p:cNvPr>
          <p:cNvSpPr/>
          <p:nvPr/>
        </p:nvSpPr>
        <p:spPr>
          <a:xfrm>
            <a:off x="1425204" y="916250"/>
            <a:ext cx="1253765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执行任务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4824BD-E862-A90B-FF9F-60A4515BD8A2}"/>
              </a:ext>
            </a:extLst>
          </p:cNvPr>
          <p:cNvSpPr/>
          <p:nvPr/>
        </p:nvSpPr>
        <p:spPr>
          <a:xfrm>
            <a:off x="4616638" y="916250"/>
            <a:ext cx="1685550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任务编辑器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10FEA4-B8FB-B0ED-BF54-3D7BFC135C64}"/>
              </a:ext>
            </a:extLst>
          </p:cNvPr>
          <p:cNvSpPr/>
          <p:nvPr/>
        </p:nvSpPr>
        <p:spPr>
          <a:xfrm>
            <a:off x="9291370" y="1956199"/>
            <a:ext cx="1408922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18A9E7-64B9-5830-0AAE-6BB84993E13E}"/>
              </a:ext>
            </a:extLst>
          </p:cNvPr>
          <p:cNvSpPr/>
          <p:nvPr/>
        </p:nvSpPr>
        <p:spPr>
          <a:xfrm>
            <a:off x="9364734" y="2969001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DA79FC-071D-9385-2582-764048C532DA}"/>
              </a:ext>
            </a:extLst>
          </p:cNvPr>
          <p:cNvSpPr/>
          <p:nvPr/>
        </p:nvSpPr>
        <p:spPr>
          <a:xfrm>
            <a:off x="9364734" y="230042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鼠标移动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06183D-F4FA-3A3D-ABF0-7D32DF8B85F0}"/>
              </a:ext>
            </a:extLst>
          </p:cNvPr>
          <p:cNvSpPr/>
          <p:nvPr/>
        </p:nvSpPr>
        <p:spPr>
          <a:xfrm>
            <a:off x="9291370" y="4335791"/>
            <a:ext cx="1408922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939819-1625-E6B7-B43E-FBFC18291246}"/>
              </a:ext>
            </a:extLst>
          </p:cNvPr>
          <p:cNvSpPr/>
          <p:nvPr/>
        </p:nvSpPr>
        <p:spPr>
          <a:xfrm>
            <a:off x="9364734" y="4998652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键盘长按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C8785-5FEB-A1FF-1971-4AB7723DEED8}"/>
              </a:ext>
            </a:extLst>
          </p:cNvPr>
          <p:cNvSpPr/>
          <p:nvPr/>
        </p:nvSpPr>
        <p:spPr>
          <a:xfrm>
            <a:off x="9364734" y="4671441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键盘触发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567170-C81E-7F7A-A833-A9C4CEB98C72}"/>
              </a:ext>
            </a:extLst>
          </p:cNvPr>
          <p:cNvSpPr/>
          <p:nvPr/>
        </p:nvSpPr>
        <p:spPr>
          <a:xfrm>
            <a:off x="9291370" y="5370373"/>
            <a:ext cx="1408922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流程控制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6004785-5B47-212F-D620-6C3421BFD705}"/>
              </a:ext>
            </a:extLst>
          </p:cNvPr>
          <p:cNvSpPr/>
          <p:nvPr/>
        </p:nvSpPr>
        <p:spPr>
          <a:xfrm>
            <a:off x="9364734" y="3302522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F1A10A-4D70-44E0-0361-3F843D9E06AA}"/>
              </a:ext>
            </a:extLst>
          </p:cNvPr>
          <p:cNvSpPr/>
          <p:nvPr/>
        </p:nvSpPr>
        <p:spPr>
          <a:xfrm>
            <a:off x="9364734" y="3980938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找图后鼠标长按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86EADF-8F66-4BB6-4C87-34A51CB6119B}"/>
              </a:ext>
            </a:extLst>
          </p:cNvPr>
          <p:cNvSpPr/>
          <p:nvPr/>
        </p:nvSpPr>
        <p:spPr>
          <a:xfrm>
            <a:off x="9364734" y="3637754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自定义鼠标长按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59DC75-4581-FB99-B1CC-1F8924132E1C}"/>
              </a:ext>
            </a:extLst>
          </p:cNvPr>
          <p:cNvSpPr/>
          <p:nvPr/>
        </p:nvSpPr>
        <p:spPr>
          <a:xfrm>
            <a:off x="9362126" y="5727646"/>
            <a:ext cx="1267408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7951D48-1028-056B-5447-A004CBE68F76}"/>
              </a:ext>
            </a:extLst>
          </p:cNvPr>
          <p:cNvSpPr/>
          <p:nvPr/>
        </p:nvSpPr>
        <p:spPr>
          <a:xfrm>
            <a:off x="9367263" y="263231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滚轮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465DF5-4A71-70F8-991E-1CB2D05DCF13}"/>
              </a:ext>
            </a:extLst>
          </p:cNvPr>
          <p:cNvSpPr/>
          <p:nvPr/>
        </p:nvSpPr>
        <p:spPr>
          <a:xfrm>
            <a:off x="5127240" y="4500095"/>
            <a:ext cx="1267408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等待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DE7AF94-7CD0-7FF0-634E-3BFD93CB9270}"/>
              </a:ext>
            </a:extLst>
          </p:cNvPr>
          <p:cNvSpPr/>
          <p:nvPr/>
        </p:nvSpPr>
        <p:spPr>
          <a:xfrm>
            <a:off x="5838057" y="4754381"/>
            <a:ext cx="2621494" cy="9732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固定值：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1s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随机扰动：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0.1s</a:t>
            </a:r>
          </a:p>
          <a:p>
            <a:pPr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-----------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最大值：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5s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最小值：</a:t>
            </a:r>
            <a:r>
              <a:rPr lang="en-US" altLang="zh-CN" sz="120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0.1s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535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7B5B-7D38-C973-8EDC-74F3BC6D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A1F1FA-CEE5-57B4-30FF-2651CC917B7D}"/>
              </a:ext>
            </a:extLst>
          </p:cNvPr>
          <p:cNvSpPr/>
          <p:nvPr/>
        </p:nvSpPr>
        <p:spPr>
          <a:xfrm>
            <a:off x="802201" y="340752"/>
            <a:ext cx="10762270" cy="594831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95F4DA-70F5-8860-92E5-27152D3E5F0A}"/>
              </a:ext>
            </a:extLst>
          </p:cNvPr>
          <p:cNvSpPr/>
          <p:nvPr/>
        </p:nvSpPr>
        <p:spPr>
          <a:xfrm>
            <a:off x="3020921" y="916250"/>
            <a:ext cx="1253765" cy="4524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任务管理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2697C2-432E-CFCE-BDC6-0A011F68BD7A}"/>
              </a:ext>
            </a:extLst>
          </p:cNvPr>
          <p:cNvSpPr txBox="1"/>
          <p:nvPr/>
        </p:nvSpPr>
        <p:spPr>
          <a:xfrm>
            <a:off x="1101734" y="409826"/>
            <a:ext cx="190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GUI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176BD-5BA9-CAB3-28DD-474318BE9849}"/>
              </a:ext>
            </a:extLst>
          </p:cNvPr>
          <p:cNvSpPr/>
          <p:nvPr/>
        </p:nvSpPr>
        <p:spPr>
          <a:xfrm>
            <a:off x="9171078" y="1368736"/>
            <a:ext cx="1649507" cy="4696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10291B-D010-C95C-B3E3-D9F4CBFE3CF7}"/>
              </a:ext>
            </a:extLst>
          </p:cNvPr>
          <p:cNvSpPr/>
          <p:nvPr/>
        </p:nvSpPr>
        <p:spPr>
          <a:xfrm>
            <a:off x="6709812" y="1212264"/>
            <a:ext cx="1649507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一键修改参数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BDDCD0-86D6-F5F3-7F6A-5A1D03C4E136}"/>
              </a:ext>
            </a:extLst>
          </p:cNvPr>
          <p:cNvSpPr txBox="1"/>
          <p:nvPr/>
        </p:nvSpPr>
        <p:spPr>
          <a:xfrm>
            <a:off x="9611268" y="1547827"/>
            <a:ext cx="116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基础指令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204B480-DAEF-53A6-E4C9-7B05E7804951}"/>
              </a:ext>
            </a:extLst>
          </p:cNvPr>
          <p:cNvSpPr/>
          <p:nvPr/>
        </p:nvSpPr>
        <p:spPr>
          <a:xfrm>
            <a:off x="10094259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测距仪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973B5A0-AB29-A734-E7E1-36040F610659}"/>
              </a:ext>
            </a:extLst>
          </p:cNvPr>
          <p:cNvSpPr/>
          <p:nvPr/>
        </p:nvSpPr>
        <p:spPr>
          <a:xfrm>
            <a:off x="1015544" y="149488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鼠标移动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EB80582-7C01-8A6D-2FBC-5F044B5DFE7D}"/>
              </a:ext>
            </a:extLst>
          </p:cNvPr>
          <p:cNvSpPr/>
          <p:nvPr/>
        </p:nvSpPr>
        <p:spPr>
          <a:xfrm>
            <a:off x="1726361" y="1752794"/>
            <a:ext cx="2589120" cy="8410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移动到坐标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工具（开启后可定位坐标）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5CB8DB7-EB73-0FD8-433C-95DBD84C64E2}"/>
              </a:ext>
            </a:extLst>
          </p:cNvPr>
          <p:cNvSpPr/>
          <p:nvPr/>
        </p:nvSpPr>
        <p:spPr>
          <a:xfrm>
            <a:off x="983170" y="266534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固定鼠标点击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B68DD03-4288-3BC0-8DB8-6D618152566C}"/>
              </a:ext>
            </a:extLst>
          </p:cNvPr>
          <p:cNvSpPr/>
          <p:nvPr/>
        </p:nvSpPr>
        <p:spPr>
          <a:xfrm>
            <a:off x="1693987" y="2927197"/>
            <a:ext cx="2621494" cy="13369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点击坐标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定位工具（开启后可定位坐标）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点击次数：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点击间隔：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F81AB2C-FE96-33E9-6B2C-CA4430A686EC}"/>
              </a:ext>
            </a:extLst>
          </p:cNvPr>
          <p:cNvSpPr/>
          <p:nvPr/>
        </p:nvSpPr>
        <p:spPr>
          <a:xfrm>
            <a:off x="983170" y="4439431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879C4CE-37B5-3CF8-13C5-3ADA9C4D9A90}"/>
              </a:ext>
            </a:extLst>
          </p:cNvPr>
          <p:cNvSpPr/>
          <p:nvPr/>
        </p:nvSpPr>
        <p:spPr>
          <a:xfrm>
            <a:off x="1693987" y="4671441"/>
            <a:ext cx="2621494" cy="15411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图片置信度：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0.7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偏移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坐标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y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0 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测距工具（开启后可测量坐标）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坐标随机扰动范围（像素）：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点击次数：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点击间隔：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间隔随机扰动范围（秒）：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(0,0.1)</a:t>
            </a:r>
          </a:p>
          <a:p>
            <a:pPr lvl="0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操作结束后等待：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0.05s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440C456-DA02-F66D-57D0-22EEB2705FDB}"/>
              </a:ext>
            </a:extLst>
          </p:cNvPr>
          <p:cNvSpPr/>
          <p:nvPr/>
        </p:nvSpPr>
        <p:spPr>
          <a:xfrm>
            <a:off x="8734454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定位仪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3644B0-2264-7C5B-55C8-1D3FF1CA39A2}"/>
              </a:ext>
            </a:extLst>
          </p:cNvPr>
          <p:cNvSpPr/>
          <p:nvPr/>
        </p:nvSpPr>
        <p:spPr>
          <a:xfrm>
            <a:off x="1425204" y="916250"/>
            <a:ext cx="1253765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执行任务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37501F-100E-3E34-D4D4-7AFEABA24AEE}"/>
              </a:ext>
            </a:extLst>
          </p:cNvPr>
          <p:cNvSpPr/>
          <p:nvPr/>
        </p:nvSpPr>
        <p:spPr>
          <a:xfrm>
            <a:off x="4616638" y="916250"/>
            <a:ext cx="1685550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任务编辑器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0E7EA1-E0B5-B0B4-0F5D-84D183467304}"/>
              </a:ext>
            </a:extLst>
          </p:cNvPr>
          <p:cNvSpPr/>
          <p:nvPr/>
        </p:nvSpPr>
        <p:spPr>
          <a:xfrm>
            <a:off x="9291370" y="1956199"/>
            <a:ext cx="1408922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31AE19-90CD-CE76-7D36-7A6DFA878973}"/>
              </a:ext>
            </a:extLst>
          </p:cNvPr>
          <p:cNvSpPr/>
          <p:nvPr/>
        </p:nvSpPr>
        <p:spPr>
          <a:xfrm>
            <a:off x="9364734" y="2969001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E828AB-8582-4EB7-F23E-602E35B5335A}"/>
              </a:ext>
            </a:extLst>
          </p:cNvPr>
          <p:cNvSpPr/>
          <p:nvPr/>
        </p:nvSpPr>
        <p:spPr>
          <a:xfrm>
            <a:off x="9364734" y="230042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鼠标移动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A29BC5-FBFC-88E3-9905-0D2E86289E7E}"/>
              </a:ext>
            </a:extLst>
          </p:cNvPr>
          <p:cNvSpPr/>
          <p:nvPr/>
        </p:nvSpPr>
        <p:spPr>
          <a:xfrm>
            <a:off x="9291370" y="4335791"/>
            <a:ext cx="1408922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84AE6B-4E66-EFC3-D986-C419DF1AADD9}"/>
              </a:ext>
            </a:extLst>
          </p:cNvPr>
          <p:cNvSpPr/>
          <p:nvPr/>
        </p:nvSpPr>
        <p:spPr>
          <a:xfrm>
            <a:off x="9364734" y="4998652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键盘长按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9AD397-F55F-1F7C-75BE-6E8358DCDD0A}"/>
              </a:ext>
            </a:extLst>
          </p:cNvPr>
          <p:cNvSpPr/>
          <p:nvPr/>
        </p:nvSpPr>
        <p:spPr>
          <a:xfrm>
            <a:off x="9364734" y="4671441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键盘触发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E515A4-78D2-599A-00F8-E0F208825728}"/>
              </a:ext>
            </a:extLst>
          </p:cNvPr>
          <p:cNvSpPr/>
          <p:nvPr/>
        </p:nvSpPr>
        <p:spPr>
          <a:xfrm>
            <a:off x="9291370" y="5370373"/>
            <a:ext cx="1408922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流程控制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64F63B-2C2F-B391-1465-7BF39CE2A897}"/>
              </a:ext>
            </a:extLst>
          </p:cNvPr>
          <p:cNvSpPr/>
          <p:nvPr/>
        </p:nvSpPr>
        <p:spPr>
          <a:xfrm>
            <a:off x="9364734" y="3302522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79C49F-B4B5-2655-053F-F4CC9A237328}"/>
              </a:ext>
            </a:extLst>
          </p:cNvPr>
          <p:cNvSpPr/>
          <p:nvPr/>
        </p:nvSpPr>
        <p:spPr>
          <a:xfrm>
            <a:off x="9364734" y="3980938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找图后鼠标长按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E25271-8848-634F-9DA5-FE75345BBCEB}"/>
              </a:ext>
            </a:extLst>
          </p:cNvPr>
          <p:cNvSpPr/>
          <p:nvPr/>
        </p:nvSpPr>
        <p:spPr>
          <a:xfrm>
            <a:off x="9364734" y="3637754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自定义鼠标长按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D853132-0A1B-1DFD-5019-FFC178D8DB10}"/>
              </a:ext>
            </a:extLst>
          </p:cNvPr>
          <p:cNvSpPr/>
          <p:nvPr/>
        </p:nvSpPr>
        <p:spPr>
          <a:xfrm>
            <a:off x="9362126" y="5727646"/>
            <a:ext cx="1267408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6E4C778-798E-32B7-1640-7600EEAEE7E3}"/>
              </a:ext>
            </a:extLst>
          </p:cNvPr>
          <p:cNvSpPr/>
          <p:nvPr/>
        </p:nvSpPr>
        <p:spPr>
          <a:xfrm>
            <a:off x="9367263" y="263231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滚轮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47B1B2-F24F-52C0-11BD-F194C4093029}"/>
              </a:ext>
            </a:extLst>
          </p:cNvPr>
          <p:cNvSpPr/>
          <p:nvPr/>
        </p:nvSpPr>
        <p:spPr>
          <a:xfrm>
            <a:off x="5262301" y="2173313"/>
            <a:ext cx="2621494" cy="1765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一个点击操作：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获取坐标值（已偏移计算）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移动到指定坐标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执行点击循环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for{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等待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计数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+1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}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等待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95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55F6-19BA-3E54-3536-38150259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>
            <a:extLst>
              <a:ext uri="{FF2B5EF4-FFF2-40B4-BE49-F238E27FC236}">
                <a16:creationId xmlns:a16="http://schemas.microsoft.com/office/drawing/2014/main" id="{DC315C77-F20E-8CDC-E138-DC2961466C72}"/>
              </a:ext>
            </a:extLst>
          </p:cNvPr>
          <p:cNvSpPr/>
          <p:nvPr/>
        </p:nvSpPr>
        <p:spPr>
          <a:xfrm>
            <a:off x="1786979" y="4402977"/>
            <a:ext cx="4011331" cy="301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鼠标点击</a:t>
            </a:r>
            <a:r>
              <a:rPr lang="en-US" altLang="zh-CN" sz="12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mouse_click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97D72D-5958-D8D1-7609-9EEC85083AF8}"/>
              </a:ext>
            </a:extLst>
          </p:cNvPr>
          <p:cNvSpPr/>
          <p:nvPr/>
        </p:nvSpPr>
        <p:spPr>
          <a:xfrm>
            <a:off x="802201" y="340752"/>
            <a:ext cx="10762270" cy="594831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3A8C19-DB9F-88F3-2479-D1A0A0546037}"/>
              </a:ext>
            </a:extLst>
          </p:cNvPr>
          <p:cNvSpPr txBox="1"/>
          <p:nvPr/>
        </p:nvSpPr>
        <p:spPr>
          <a:xfrm>
            <a:off x="1101734" y="409826"/>
            <a:ext cx="190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GUI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39ED55-4B95-C2F0-114B-B8729071E46F}"/>
              </a:ext>
            </a:extLst>
          </p:cNvPr>
          <p:cNvSpPr/>
          <p:nvPr/>
        </p:nvSpPr>
        <p:spPr>
          <a:xfrm>
            <a:off x="9171078" y="1368736"/>
            <a:ext cx="1649507" cy="4696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D0BDCB-F1AE-0DFC-852E-166D2758F80D}"/>
              </a:ext>
            </a:extLst>
          </p:cNvPr>
          <p:cNvSpPr txBox="1"/>
          <p:nvPr/>
        </p:nvSpPr>
        <p:spPr>
          <a:xfrm>
            <a:off x="9611268" y="1547827"/>
            <a:ext cx="116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基础指令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79CCFD-4C4E-6561-14DA-2F15EB09AFD6}"/>
              </a:ext>
            </a:extLst>
          </p:cNvPr>
          <p:cNvSpPr/>
          <p:nvPr/>
        </p:nvSpPr>
        <p:spPr>
          <a:xfrm>
            <a:off x="9291370" y="1956199"/>
            <a:ext cx="1408922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777057-5DE2-34D6-11D4-EA07BFA96F14}"/>
              </a:ext>
            </a:extLst>
          </p:cNvPr>
          <p:cNvSpPr/>
          <p:nvPr/>
        </p:nvSpPr>
        <p:spPr>
          <a:xfrm>
            <a:off x="9364734" y="2969001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85B04C-C591-F797-1AEE-E74A4359C3CB}"/>
              </a:ext>
            </a:extLst>
          </p:cNvPr>
          <p:cNvSpPr/>
          <p:nvPr/>
        </p:nvSpPr>
        <p:spPr>
          <a:xfrm>
            <a:off x="9364734" y="230042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鼠标移动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CDD800-7FD2-8D97-2E27-6C158EB89E50}"/>
              </a:ext>
            </a:extLst>
          </p:cNvPr>
          <p:cNvSpPr/>
          <p:nvPr/>
        </p:nvSpPr>
        <p:spPr>
          <a:xfrm>
            <a:off x="9291370" y="4335791"/>
            <a:ext cx="1408922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13EA6D-D046-C814-28DA-82D183706673}"/>
              </a:ext>
            </a:extLst>
          </p:cNvPr>
          <p:cNvSpPr/>
          <p:nvPr/>
        </p:nvSpPr>
        <p:spPr>
          <a:xfrm>
            <a:off x="9364734" y="4998652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键盘长按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DC281B-14F0-F8DE-154E-136864BD2ED8}"/>
              </a:ext>
            </a:extLst>
          </p:cNvPr>
          <p:cNvSpPr/>
          <p:nvPr/>
        </p:nvSpPr>
        <p:spPr>
          <a:xfrm>
            <a:off x="9364734" y="4671441"/>
            <a:ext cx="1267408" cy="30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键盘触发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12E46E-33DD-CD28-13BA-52E7F85BF454}"/>
              </a:ext>
            </a:extLst>
          </p:cNvPr>
          <p:cNvSpPr/>
          <p:nvPr/>
        </p:nvSpPr>
        <p:spPr>
          <a:xfrm>
            <a:off x="9291370" y="5370373"/>
            <a:ext cx="1408922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流程控制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F7D90B-5FCC-8E67-0754-551F33F58ADF}"/>
              </a:ext>
            </a:extLst>
          </p:cNvPr>
          <p:cNvSpPr/>
          <p:nvPr/>
        </p:nvSpPr>
        <p:spPr>
          <a:xfrm>
            <a:off x="10094259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测距仪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C1CCD67-C3F3-DF64-82F0-68DC420225C4}"/>
              </a:ext>
            </a:extLst>
          </p:cNvPr>
          <p:cNvSpPr/>
          <p:nvPr/>
        </p:nvSpPr>
        <p:spPr>
          <a:xfrm>
            <a:off x="9364734" y="3302522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C833B0C-56C1-56DF-8BED-946D986A000D}"/>
              </a:ext>
            </a:extLst>
          </p:cNvPr>
          <p:cNvSpPr/>
          <p:nvPr/>
        </p:nvSpPr>
        <p:spPr>
          <a:xfrm>
            <a:off x="9364734" y="3980938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找图后鼠标长按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D4778E-17F8-EAC7-23AF-0FC3C34606D4}"/>
              </a:ext>
            </a:extLst>
          </p:cNvPr>
          <p:cNvSpPr/>
          <p:nvPr/>
        </p:nvSpPr>
        <p:spPr>
          <a:xfrm>
            <a:off x="9364734" y="3637754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自定义鼠标长按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02DD90-25C4-36C4-BFBC-1EB154F64345}"/>
              </a:ext>
            </a:extLst>
          </p:cNvPr>
          <p:cNvSpPr/>
          <p:nvPr/>
        </p:nvSpPr>
        <p:spPr>
          <a:xfrm>
            <a:off x="9362126" y="5727646"/>
            <a:ext cx="1267408" cy="301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203562-9621-B261-6FF0-2F127882A733}"/>
              </a:ext>
            </a:extLst>
          </p:cNvPr>
          <p:cNvSpPr/>
          <p:nvPr/>
        </p:nvSpPr>
        <p:spPr>
          <a:xfrm>
            <a:off x="8734454" y="576517"/>
            <a:ext cx="1113831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定位仪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D227CC-21C7-9496-36D4-F69A4F5D9A41}"/>
              </a:ext>
            </a:extLst>
          </p:cNvPr>
          <p:cNvSpPr/>
          <p:nvPr/>
        </p:nvSpPr>
        <p:spPr>
          <a:xfrm>
            <a:off x="6709812" y="1212264"/>
            <a:ext cx="1649507" cy="433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一键修改参数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034E62-8426-09A7-6EEC-17244366FC14}"/>
              </a:ext>
            </a:extLst>
          </p:cNvPr>
          <p:cNvSpPr/>
          <p:nvPr/>
        </p:nvSpPr>
        <p:spPr>
          <a:xfrm>
            <a:off x="3020921" y="916250"/>
            <a:ext cx="1253765" cy="4524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任务管理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981527-7FF3-E426-8795-740C1B3A0F3C}"/>
              </a:ext>
            </a:extLst>
          </p:cNvPr>
          <p:cNvSpPr/>
          <p:nvPr/>
        </p:nvSpPr>
        <p:spPr>
          <a:xfrm>
            <a:off x="1425204" y="916250"/>
            <a:ext cx="1253765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执行任务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AC4554-9438-C31D-E83F-FDEA3798E44C}"/>
              </a:ext>
            </a:extLst>
          </p:cNvPr>
          <p:cNvSpPr/>
          <p:nvPr/>
        </p:nvSpPr>
        <p:spPr>
          <a:xfrm>
            <a:off x="4616638" y="916250"/>
            <a:ext cx="1685550" cy="452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任务编辑器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7FA7AD-5ED7-ECE5-CCCD-60F70F532120}"/>
              </a:ext>
            </a:extLst>
          </p:cNvPr>
          <p:cNvSpPr/>
          <p:nvPr/>
        </p:nvSpPr>
        <p:spPr>
          <a:xfrm>
            <a:off x="6388369" y="5562152"/>
            <a:ext cx="1649506" cy="5027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键盘长按</a:t>
            </a:r>
            <a:r>
              <a:rPr lang="en-US" altLang="zh-CN" sz="12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key_long_press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46FDD5-B04C-787B-A24E-C942304A4CA9}"/>
              </a:ext>
            </a:extLst>
          </p:cNvPr>
          <p:cNvSpPr/>
          <p:nvPr/>
        </p:nvSpPr>
        <p:spPr>
          <a:xfrm>
            <a:off x="6388368" y="5049839"/>
            <a:ext cx="1649507" cy="301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键盘触发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key_press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ADBCCC8-A4A5-B497-1A5B-B88CBD178A1C}"/>
              </a:ext>
            </a:extLst>
          </p:cNvPr>
          <p:cNvSpPr/>
          <p:nvPr/>
        </p:nvSpPr>
        <p:spPr>
          <a:xfrm>
            <a:off x="6183336" y="1884644"/>
            <a:ext cx="1756424" cy="320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</a:t>
            </a:r>
            <a:r>
              <a:rPr lang="en-US" altLang="zh-CN" sz="12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loop_until_found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7597A79-774F-26A9-C0DA-78C3CAD40C8D}"/>
              </a:ext>
            </a:extLst>
          </p:cNvPr>
          <p:cNvSpPr/>
          <p:nvPr/>
        </p:nvSpPr>
        <p:spPr>
          <a:xfrm>
            <a:off x="2920183" y="3159926"/>
            <a:ext cx="1649506" cy="5458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坐标随机扰动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get_gaussian_offset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3226CE7-E1F1-71DE-F8F8-A824D5CF5628}"/>
              </a:ext>
            </a:extLst>
          </p:cNvPr>
          <p:cNvSpPr/>
          <p:nvPr/>
        </p:nvSpPr>
        <p:spPr>
          <a:xfrm>
            <a:off x="1786980" y="2186930"/>
            <a:ext cx="1783977" cy="4856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固定坐标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get_fixed_coordinate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6C8CB17-E607-EB80-5685-DB4C54E957C6}"/>
              </a:ext>
            </a:extLst>
          </p:cNvPr>
          <p:cNvSpPr/>
          <p:nvPr/>
        </p:nvSpPr>
        <p:spPr>
          <a:xfrm>
            <a:off x="1786980" y="3932514"/>
            <a:ext cx="4011332" cy="301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鼠标移动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mouse_move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ABC248E-7251-52F9-0D12-B3A882A1D142}"/>
              </a:ext>
            </a:extLst>
          </p:cNvPr>
          <p:cNvSpPr/>
          <p:nvPr/>
        </p:nvSpPr>
        <p:spPr>
          <a:xfrm>
            <a:off x="3852785" y="2186930"/>
            <a:ext cx="1945527" cy="4856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识图中心坐标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get_image_coordinate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ED089A8-0352-2A7A-EBDC-72812BC37B38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2678969" y="2672545"/>
            <a:ext cx="1065967" cy="48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3A8A9935-7A43-E40F-4869-671B57638089}"/>
              </a:ext>
            </a:extLst>
          </p:cNvPr>
          <p:cNvSpPr/>
          <p:nvPr/>
        </p:nvSpPr>
        <p:spPr>
          <a:xfrm>
            <a:off x="1786980" y="5049839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4E116AA-90EA-F81C-1E35-FAB0C678798A}"/>
              </a:ext>
            </a:extLst>
          </p:cNvPr>
          <p:cNvCxnSpPr>
            <a:cxnSpLocks/>
            <a:stCxn id="47" idx="2"/>
            <a:endCxn id="42" idx="0"/>
          </p:cNvCxnSpPr>
          <p:nvPr/>
        </p:nvCxnSpPr>
        <p:spPr>
          <a:xfrm flipH="1">
            <a:off x="3744936" y="2672545"/>
            <a:ext cx="1080613" cy="48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3276A3B-19AF-49DB-88F3-C08C2BB6AF2B}"/>
              </a:ext>
            </a:extLst>
          </p:cNvPr>
          <p:cNvCxnSpPr>
            <a:cxnSpLocks/>
            <a:stCxn id="42" idx="2"/>
            <a:endCxn id="50" idx="0"/>
          </p:cNvCxnSpPr>
          <p:nvPr/>
        </p:nvCxnSpPr>
        <p:spPr>
          <a:xfrm flipH="1">
            <a:off x="2420684" y="3705739"/>
            <a:ext cx="1324252" cy="1344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6D445552-E343-B3E8-E87D-FD5FD982F85A}"/>
              </a:ext>
            </a:extLst>
          </p:cNvPr>
          <p:cNvSpPr/>
          <p:nvPr/>
        </p:nvSpPr>
        <p:spPr>
          <a:xfrm>
            <a:off x="4530904" y="5049839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找图后鼠标点击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076B995-5976-B19D-6271-416DB2E0D1A5}"/>
              </a:ext>
            </a:extLst>
          </p:cNvPr>
          <p:cNvCxnSpPr>
            <a:cxnSpLocks/>
            <a:stCxn id="42" idx="2"/>
            <a:endCxn id="62" idx="0"/>
          </p:cNvCxnSpPr>
          <p:nvPr/>
        </p:nvCxnSpPr>
        <p:spPr>
          <a:xfrm>
            <a:off x="3744936" y="3705739"/>
            <a:ext cx="1419672" cy="1344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12072909-2573-2574-33CC-B14502FDFBF3}"/>
              </a:ext>
            </a:extLst>
          </p:cNvPr>
          <p:cNvSpPr/>
          <p:nvPr/>
        </p:nvSpPr>
        <p:spPr>
          <a:xfrm>
            <a:off x="1786980" y="556215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自定义鼠标长按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DA25933-C268-DC8A-8DBC-2A5FA49E2FB5}"/>
              </a:ext>
            </a:extLst>
          </p:cNvPr>
          <p:cNvCxnSpPr>
            <a:cxnSpLocks/>
            <a:stCxn id="42" idx="2"/>
            <a:endCxn id="68" idx="0"/>
          </p:cNvCxnSpPr>
          <p:nvPr/>
        </p:nvCxnSpPr>
        <p:spPr>
          <a:xfrm flipH="1">
            <a:off x="2420684" y="3705739"/>
            <a:ext cx="1324252" cy="185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39140DE0-E59F-511A-8F1B-C12BD210C5C5}"/>
              </a:ext>
            </a:extLst>
          </p:cNvPr>
          <p:cNvSpPr/>
          <p:nvPr/>
        </p:nvSpPr>
        <p:spPr>
          <a:xfrm>
            <a:off x="4530904" y="5562153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找图后鼠标长按</a:t>
            </a:r>
            <a:endParaRPr lang="en-US" altLang="zh-CN" sz="12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8D6680A7-A9D6-BBE2-8167-DE9642A00644}"/>
              </a:ext>
            </a:extLst>
          </p:cNvPr>
          <p:cNvCxnSpPr>
            <a:cxnSpLocks/>
            <a:stCxn id="42" idx="2"/>
            <a:endCxn id="82" idx="0"/>
          </p:cNvCxnSpPr>
          <p:nvPr/>
        </p:nvCxnSpPr>
        <p:spPr>
          <a:xfrm>
            <a:off x="3744936" y="3705739"/>
            <a:ext cx="1419672" cy="185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2D8A0F81-1872-35D1-016F-2AA6C6625EE2}"/>
              </a:ext>
            </a:extLst>
          </p:cNvPr>
          <p:cNvSpPr/>
          <p:nvPr/>
        </p:nvSpPr>
        <p:spPr>
          <a:xfrm>
            <a:off x="9367263" y="2632317"/>
            <a:ext cx="1267408" cy="301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</a:t>
            </a: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滚轮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8C3A65A-B9BC-E926-2E32-97973B5C608F}"/>
              </a:ext>
            </a:extLst>
          </p:cNvPr>
          <p:cNvSpPr/>
          <p:nvPr/>
        </p:nvSpPr>
        <p:spPr>
          <a:xfrm>
            <a:off x="6388367" y="4402977"/>
            <a:ext cx="1649507" cy="301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鼠标滚轮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scroll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B001298-5AC2-CE6C-6346-5750D48226ED}"/>
              </a:ext>
            </a:extLst>
          </p:cNvPr>
          <p:cNvSpPr/>
          <p:nvPr/>
        </p:nvSpPr>
        <p:spPr>
          <a:xfrm>
            <a:off x="6183336" y="2289822"/>
            <a:ext cx="1756424" cy="320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等待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wait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76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C401-F0AA-24ED-AE6D-1B75C85C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982282B-301C-5B98-CEA7-4DB26F0BCE74}"/>
              </a:ext>
            </a:extLst>
          </p:cNvPr>
          <p:cNvSpPr/>
          <p:nvPr/>
        </p:nvSpPr>
        <p:spPr>
          <a:xfrm>
            <a:off x="2695330" y="4813056"/>
            <a:ext cx="4282963" cy="4505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0F273D0-122F-32E8-D716-CFD2F424B2C4}"/>
              </a:ext>
            </a:extLst>
          </p:cNvPr>
          <p:cNvSpPr/>
          <p:nvPr/>
        </p:nvSpPr>
        <p:spPr>
          <a:xfrm>
            <a:off x="2686456" y="2536655"/>
            <a:ext cx="4282963" cy="4505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CC7E98-077D-A69B-BA7C-7577F8DB0B9A}"/>
              </a:ext>
            </a:extLst>
          </p:cNvPr>
          <p:cNvSpPr/>
          <p:nvPr/>
        </p:nvSpPr>
        <p:spPr>
          <a:xfrm>
            <a:off x="2608730" y="618566"/>
            <a:ext cx="4446494" cy="539675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930680-1EB4-1BDD-F33F-702A286E853E}"/>
              </a:ext>
            </a:extLst>
          </p:cNvPr>
          <p:cNvSpPr/>
          <p:nvPr/>
        </p:nvSpPr>
        <p:spPr>
          <a:xfrm>
            <a:off x="788895" y="358590"/>
            <a:ext cx="8069345" cy="594831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D097B4-A3B0-51E2-0A87-53CF1762AE23}"/>
              </a:ext>
            </a:extLst>
          </p:cNvPr>
          <p:cNvSpPr txBox="1"/>
          <p:nvPr/>
        </p:nvSpPr>
        <p:spPr>
          <a:xfrm>
            <a:off x="923365" y="358590"/>
            <a:ext cx="115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主循环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80D905-C400-B5F3-3889-ED227EFD4724}"/>
              </a:ext>
            </a:extLst>
          </p:cNvPr>
          <p:cNvSpPr/>
          <p:nvPr/>
        </p:nvSpPr>
        <p:spPr>
          <a:xfrm>
            <a:off x="3388659" y="950260"/>
            <a:ext cx="1846730" cy="3973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808609-E4CD-DB09-FA32-339EF1F481C4}"/>
              </a:ext>
            </a:extLst>
          </p:cNvPr>
          <p:cNvSpPr/>
          <p:nvPr/>
        </p:nvSpPr>
        <p:spPr>
          <a:xfrm>
            <a:off x="3388568" y="1499976"/>
            <a:ext cx="1846730" cy="3973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8565B3-E24F-6596-7BA9-2782C46E7789}"/>
              </a:ext>
            </a:extLst>
          </p:cNvPr>
          <p:cNvSpPr/>
          <p:nvPr/>
        </p:nvSpPr>
        <p:spPr>
          <a:xfrm>
            <a:off x="3388659" y="2049692"/>
            <a:ext cx="1846730" cy="3973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527C33-D742-7823-13E9-14B23CEDD82B}"/>
              </a:ext>
            </a:extLst>
          </p:cNvPr>
          <p:cNvSpPr/>
          <p:nvPr/>
        </p:nvSpPr>
        <p:spPr>
          <a:xfrm>
            <a:off x="3388568" y="2599408"/>
            <a:ext cx="1846730" cy="2961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循环开始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19B585-7743-8EF5-8EAF-DE512322A265}"/>
              </a:ext>
            </a:extLst>
          </p:cNvPr>
          <p:cNvSpPr/>
          <p:nvPr/>
        </p:nvSpPr>
        <p:spPr>
          <a:xfrm>
            <a:off x="3388568" y="4890016"/>
            <a:ext cx="1846730" cy="2961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循环结束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303C2A-AA79-87ED-9306-78825BC32DBC}"/>
              </a:ext>
            </a:extLst>
          </p:cNvPr>
          <p:cNvSpPr/>
          <p:nvPr/>
        </p:nvSpPr>
        <p:spPr>
          <a:xfrm>
            <a:off x="4311933" y="3118483"/>
            <a:ext cx="1846730" cy="3973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C1C67F-1EB3-7C26-4353-C4FC0283A3FC}"/>
              </a:ext>
            </a:extLst>
          </p:cNvPr>
          <p:cNvSpPr/>
          <p:nvPr/>
        </p:nvSpPr>
        <p:spPr>
          <a:xfrm>
            <a:off x="4311842" y="3668199"/>
            <a:ext cx="1846730" cy="3973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0D751E-0DC4-89D3-D67F-4C1808475FCC}"/>
              </a:ext>
            </a:extLst>
          </p:cNvPr>
          <p:cNvSpPr/>
          <p:nvPr/>
        </p:nvSpPr>
        <p:spPr>
          <a:xfrm>
            <a:off x="4311933" y="4217915"/>
            <a:ext cx="1846730" cy="3973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6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2B58C2B-4432-30BF-1DC8-B6CDB17299A0}"/>
              </a:ext>
            </a:extLst>
          </p:cNvPr>
          <p:cNvGrpSpPr/>
          <p:nvPr/>
        </p:nvGrpSpPr>
        <p:grpSpPr>
          <a:xfrm>
            <a:off x="2798281" y="950259"/>
            <a:ext cx="403411" cy="397316"/>
            <a:chOff x="2475551" y="1290917"/>
            <a:chExt cx="403411" cy="39731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615E671-707D-5AE8-B4B4-9AC51257CDCC}"/>
                </a:ext>
              </a:extLst>
            </p:cNvPr>
            <p:cNvSpPr/>
            <p:nvPr/>
          </p:nvSpPr>
          <p:spPr>
            <a:xfrm>
              <a:off x="2475551" y="1290917"/>
              <a:ext cx="403411" cy="39731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BC686EE7-A2DB-42CB-E3ED-73074A5D9142}"/>
                </a:ext>
              </a:extLst>
            </p:cNvPr>
            <p:cNvSpPr/>
            <p:nvPr/>
          </p:nvSpPr>
          <p:spPr>
            <a:xfrm>
              <a:off x="2578372" y="1380564"/>
              <a:ext cx="188440" cy="19722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6D8E348-A636-3098-D095-E33F7EF4299C}"/>
              </a:ext>
            </a:extLst>
          </p:cNvPr>
          <p:cNvGrpSpPr/>
          <p:nvPr/>
        </p:nvGrpSpPr>
        <p:grpSpPr>
          <a:xfrm>
            <a:off x="2799516" y="1499976"/>
            <a:ext cx="403411" cy="397316"/>
            <a:chOff x="2475551" y="1290917"/>
            <a:chExt cx="403411" cy="397316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12070A2-D47F-BCFE-96C2-3ED501EB94D3}"/>
                </a:ext>
              </a:extLst>
            </p:cNvPr>
            <p:cNvSpPr/>
            <p:nvPr/>
          </p:nvSpPr>
          <p:spPr>
            <a:xfrm>
              <a:off x="2475551" y="1290917"/>
              <a:ext cx="403411" cy="39731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2884DA7F-1606-18AC-43CE-DA5BEBC8D4B7}"/>
                </a:ext>
              </a:extLst>
            </p:cNvPr>
            <p:cNvSpPr/>
            <p:nvPr/>
          </p:nvSpPr>
          <p:spPr>
            <a:xfrm>
              <a:off x="2578372" y="1380564"/>
              <a:ext cx="188440" cy="19722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843845C-DD8F-4999-0964-23D9F5B6378C}"/>
              </a:ext>
            </a:extLst>
          </p:cNvPr>
          <p:cNvGrpSpPr/>
          <p:nvPr/>
        </p:nvGrpSpPr>
        <p:grpSpPr>
          <a:xfrm>
            <a:off x="2802481" y="3118483"/>
            <a:ext cx="403411" cy="397316"/>
            <a:chOff x="2475551" y="1290917"/>
            <a:chExt cx="403411" cy="39731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342229E-4A79-4BB7-8192-5A2815F12BD8}"/>
                </a:ext>
              </a:extLst>
            </p:cNvPr>
            <p:cNvSpPr/>
            <p:nvPr/>
          </p:nvSpPr>
          <p:spPr>
            <a:xfrm>
              <a:off x="2475551" y="1290917"/>
              <a:ext cx="403411" cy="39731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19541AB9-74E8-0E70-FD55-CCF9F669ADCE}"/>
                </a:ext>
              </a:extLst>
            </p:cNvPr>
            <p:cNvSpPr/>
            <p:nvPr/>
          </p:nvSpPr>
          <p:spPr>
            <a:xfrm>
              <a:off x="2578372" y="1380564"/>
              <a:ext cx="188440" cy="19722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4C20A683-FFBC-2814-694E-E5432415261E}"/>
              </a:ext>
            </a:extLst>
          </p:cNvPr>
          <p:cNvGrpSpPr/>
          <p:nvPr/>
        </p:nvGrpSpPr>
        <p:grpSpPr>
          <a:xfrm>
            <a:off x="2801759" y="3665330"/>
            <a:ext cx="403411" cy="397316"/>
            <a:chOff x="2475551" y="1290917"/>
            <a:chExt cx="403411" cy="397316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1641B81-AB77-5DDC-9089-3E2969A98FC5}"/>
                </a:ext>
              </a:extLst>
            </p:cNvPr>
            <p:cNvSpPr/>
            <p:nvPr/>
          </p:nvSpPr>
          <p:spPr>
            <a:xfrm>
              <a:off x="2475551" y="1290917"/>
              <a:ext cx="403411" cy="39731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A93A508F-4E8E-D46A-A575-6A2614C0ACAE}"/>
                </a:ext>
              </a:extLst>
            </p:cNvPr>
            <p:cNvSpPr/>
            <p:nvPr/>
          </p:nvSpPr>
          <p:spPr>
            <a:xfrm>
              <a:off x="2578372" y="1380564"/>
              <a:ext cx="188440" cy="19722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2C2FE21-D829-3F28-469A-0257A9343019}"/>
              </a:ext>
            </a:extLst>
          </p:cNvPr>
          <p:cNvGrpSpPr/>
          <p:nvPr/>
        </p:nvGrpSpPr>
        <p:grpSpPr>
          <a:xfrm>
            <a:off x="2801759" y="4217915"/>
            <a:ext cx="403411" cy="397316"/>
            <a:chOff x="2475551" y="1290917"/>
            <a:chExt cx="403411" cy="397316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A612B2D-72B8-3D31-906C-92EC2A12EDA0}"/>
                </a:ext>
              </a:extLst>
            </p:cNvPr>
            <p:cNvSpPr/>
            <p:nvPr/>
          </p:nvSpPr>
          <p:spPr>
            <a:xfrm>
              <a:off x="2475551" y="1290917"/>
              <a:ext cx="403411" cy="39731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D7E282FA-BC24-8A48-A2B6-F80FABCB1BF3}"/>
                </a:ext>
              </a:extLst>
            </p:cNvPr>
            <p:cNvSpPr/>
            <p:nvPr/>
          </p:nvSpPr>
          <p:spPr>
            <a:xfrm>
              <a:off x="2578372" y="1380564"/>
              <a:ext cx="188440" cy="19722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58CA5C2-38D5-ED15-2759-D517657244BC}"/>
              </a:ext>
            </a:extLst>
          </p:cNvPr>
          <p:cNvGrpSpPr/>
          <p:nvPr/>
        </p:nvGrpSpPr>
        <p:grpSpPr>
          <a:xfrm>
            <a:off x="2799516" y="2049692"/>
            <a:ext cx="403411" cy="397316"/>
            <a:chOff x="2475551" y="1290917"/>
            <a:chExt cx="403411" cy="397316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F3988250-EA3B-3309-CD4F-CFD7CF52B7D8}"/>
                </a:ext>
              </a:extLst>
            </p:cNvPr>
            <p:cNvSpPr/>
            <p:nvPr/>
          </p:nvSpPr>
          <p:spPr>
            <a:xfrm>
              <a:off x="2475551" y="1290917"/>
              <a:ext cx="403411" cy="39731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654F1835-6B4A-4831-9C4F-70549D4D2021}"/>
                </a:ext>
              </a:extLst>
            </p:cNvPr>
            <p:cNvSpPr/>
            <p:nvPr/>
          </p:nvSpPr>
          <p:spPr>
            <a:xfrm>
              <a:off x="2578372" y="1380564"/>
              <a:ext cx="188440" cy="19722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B0B31CDE-FCE4-DF17-386C-6FC076BFD88F}"/>
              </a:ext>
            </a:extLst>
          </p:cNvPr>
          <p:cNvGrpSpPr/>
          <p:nvPr/>
        </p:nvGrpSpPr>
        <p:grpSpPr>
          <a:xfrm>
            <a:off x="2794806" y="2600204"/>
            <a:ext cx="403411" cy="295397"/>
            <a:chOff x="2479760" y="2940862"/>
            <a:chExt cx="403411" cy="295397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02092DB-C2CC-EAF2-98D6-97BA97B2940A}"/>
                </a:ext>
              </a:extLst>
            </p:cNvPr>
            <p:cNvSpPr/>
            <p:nvPr/>
          </p:nvSpPr>
          <p:spPr>
            <a:xfrm>
              <a:off x="2479760" y="2940862"/>
              <a:ext cx="403411" cy="295397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417773FB-271B-0969-8CBA-18CFA7D9AEBC}"/>
                </a:ext>
              </a:extLst>
            </p:cNvPr>
            <p:cNvSpPr/>
            <p:nvPr/>
          </p:nvSpPr>
          <p:spPr>
            <a:xfrm>
              <a:off x="2587291" y="2988175"/>
              <a:ext cx="188440" cy="197224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47F3C204-BF1C-ABE2-D1A4-00BE106A3D7B}"/>
              </a:ext>
            </a:extLst>
          </p:cNvPr>
          <p:cNvGrpSpPr/>
          <p:nvPr/>
        </p:nvGrpSpPr>
        <p:grpSpPr>
          <a:xfrm>
            <a:off x="2793616" y="4890812"/>
            <a:ext cx="403411" cy="295397"/>
            <a:chOff x="2479760" y="2940862"/>
            <a:chExt cx="403411" cy="295397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7D960431-3CDC-381E-DBFD-4E082050CCF9}"/>
                </a:ext>
              </a:extLst>
            </p:cNvPr>
            <p:cNvSpPr/>
            <p:nvPr/>
          </p:nvSpPr>
          <p:spPr>
            <a:xfrm>
              <a:off x="2479760" y="2940862"/>
              <a:ext cx="403411" cy="295397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93E97AE8-9862-9B2B-EFD8-0194845F8194}"/>
                </a:ext>
              </a:extLst>
            </p:cNvPr>
            <p:cNvSpPr/>
            <p:nvPr/>
          </p:nvSpPr>
          <p:spPr>
            <a:xfrm>
              <a:off x="2587291" y="2988175"/>
              <a:ext cx="188440" cy="197224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6A85040-0CB3-36F8-E4F6-AC12A6F457A0}"/>
              </a:ext>
            </a:extLst>
          </p:cNvPr>
          <p:cNvCxnSpPr>
            <a:cxnSpLocks/>
            <a:stCxn id="11" idx="3"/>
            <a:endCxn id="73" idx="1"/>
          </p:cNvCxnSpPr>
          <p:nvPr/>
        </p:nvCxnSpPr>
        <p:spPr>
          <a:xfrm flipV="1">
            <a:off x="5235298" y="2381050"/>
            <a:ext cx="527810" cy="366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F9C25729-3D89-2876-490A-95E561A2C82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235298" y="2908371"/>
            <a:ext cx="923274" cy="2129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550F1978-7DC5-D76B-4552-51F145A6909C}"/>
              </a:ext>
            </a:extLst>
          </p:cNvPr>
          <p:cNvSpPr txBox="1"/>
          <p:nvPr/>
        </p:nvSpPr>
        <p:spPr>
          <a:xfrm>
            <a:off x="5763108" y="1919385"/>
            <a:ext cx="1394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绑定，开始永远在结束上方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3DA02E-BE4E-6535-FF47-98808ADD4811}"/>
              </a:ext>
            </a:extLst>
          </p:cNvPr>
          <p:cNvSpPr txBox="1"/>
          <p:nvPr/>
        </p:nvSpPr>
        <p:spPr>
          <a:xfrm>
            <a:off x="1188698" y="3220688"/>
            <a:ext cx="1394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选中范围内指令，会一起选中和拖动</a:t>
            </a: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00F2CE2A-4524-F56B-192A-F1E9E6CB44C7}"/>
              </a:ext>
            </a:extLst>
          </p:cNvPr>
          <p:cNvCxnSpPr>
            <a:cxnSpLocks/>
            <a:stCxn id="61" idx="1"/>
            <a:endCxn id="83" idx="0"/>
          </p:cNvCxnSpPr>
          <p:nvPr/>
        </p:nvCxnSpPr>
        <p:spPr>
          <a:xfrm flipH="1">
            <a:off x="1886167" y="2747903"/>
            <a:ext cx="908639" cy="472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9E18DFB2-9813-9BC3-F5D4-BF5C1E6E7D8A}"/>
              </a:ext>
            </a:extLst>
          </p:cNvPr>
          <p:cNvCxnSpPr>
            <a:cxnSpLocks/>
            <a:stCxn id="65" idx="1"/>
            <a:endCxn id="83" idx="2"/>
          </p:cNvCxnSpPr>
          <p:nvPr/>
        </p:nvCxnSpPr>
        <p:spPr>
          <a:xfrm flipH="1" flipV="1">
            <a:off x="1886167" y="4421017"/>
            <a:ext cx="907449" cy="617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40E337E-2018-1A35-6E47-3B95944D744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311933" y="1476215"/>
            <a:ext cx="1348354" cy="1123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2F2AE87-F3F6-40C3-E14D-B968474829D5}"/>
              </a:ext>
            </a:extLst>
          </p:cNvPr>
          <p:cNvSpPr txBox="1"/>
          <p:nvPr/>
        </p:nvSpPr>
        <p:spPr>
          <a:xfrm>
            <a:off x="5671910" y="706464"/>
            <a:ext cx="1394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往上拖拽时，操作</a:t>
            </a:r>
            <a:r>
              <a:rPr lang="en-US" altLang="zh-CN" dirty="0">
                <a:solidFill>
                  <a:schemeClr val="accent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accent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会进入到循环中</a:t>
            </a: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1D4A81F-FB52-8BCA-FA96-CAF8A448E2D7}"/>
              </a:ext>
            </a:extLst>
          </p:cNvPr>
          <p:cNvCxnSpPr>
            <a:cxnSpLocks/>
          </p:cNvCxnSpPr>
          <p:nvPr/>
        </p:nvCxnSpPr>
        <p:spPr>
          <a:xfrm>
            <a:off x="6799998" y="2746129"/>
            <a:ext cx="993407" cy="186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BBBBC1B5-F711-D9D9-A566-BB7C06FF63FB}"/>
              </a:ext>
            </a:extLst>
          </p:cNvPr>
          <p:cNvSpPr txBox="1"/>
          <p:nvPr/>
        </p:nvSpPr>
        <p:spPr>
          <a:xfrm>
            <a:off x="7570834" y="4640039"/>
            <a:ext cx="139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染色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F51AB5F-C256-8422-B139-2D38309E28DE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2501199" y="3317141"/>
            <a:ext cx="301282" cy="453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604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9AE2C-ADA6-84F5-5E74-1B958A8D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3C5786E-0D0E-5090-3F0D-E0A32AB81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398147"/>
              </p:ext>
            </p:extLst>
          </p:nvPr>
        </p:nvGraphicFramePr>
        <p:xfrm>
          <a:off x="501027" y="458096"/>
          <a:ext cx="11046511" cy="556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984">
                  <a:extLst>
                    <a:ext uri="{9D8B030D-6E8A-4147-A177-3AD203B41FA5}">
                      <a16:colId xmlns:a16="http://schemas.microsoft.com/office/drawing/2014/main" val="1848369301"/>
                    </a:ext>
                  </a:extLst>
                </a:gridCol>
                <a:gridCol w="5432613">
                  <a:extLst>
                    <a:ext uri="{9D8B030D-6E8A-4147-A177-3AD203B41FA5}">
                      <a16:colId xmlns:a16="http://schemas.microsoft.com/office/drawing/2014/main" val="117563725"/>
                    </a:ext>
                  </a:extLst>
                </a:gridCol>
                <a:gridCol w="2053914">
                  <a:extLst>
                    <a:ext uri="{9D8B030D-6E8A-4147-A177-3AD203B41FA5}">
                      <a16:colId xmlns:a16="http://schemas.microsoft.com/office/drawing/2014/main" val="1406526506"/>
                    </a:ext>
                  </a:extLst>
                </a:gridCol>
              </a:tblGrid>
              <a:tr h="348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接受参数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返回值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825216"/>
                  </a:ext>
                </a:extLst>
              </a:tr>
              <a:tr h="348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Target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（目标位置）：仅负责给出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坐标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925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自定义固定坐标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指定坐标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坐标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27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2.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识图坐标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图片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img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图片中心坐标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801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可选范围随机，输出轻微扰动后的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坐标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扰动后坐标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x',y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')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485554"/>
                  </a:ext>
                </a:extLst>
              </a:tr>
              <a:tr h="138953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Action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（执行动作）：不关心坐标是怎么来的，只管执行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330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鼠标移动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坐标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、停留时间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sleep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4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2.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鼠标点击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坐标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、次数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repeat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、时长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duration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、间隔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sleep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847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3.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鼠标长按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坐标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x,y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、次数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repeat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、时长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duration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、间隔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sleep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8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4.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键盘触发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键码</a:t>
                      </a:r>
                      <a:r>
                        <a:rPr lang="en-US" altLang="zh-CN" sz="16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KeyCode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、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次数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repeat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、时长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duration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、间隔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sleep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645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5.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键盘长按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键码</a:t>
                      </a:r>
                      <a:r>
                        <a:rPr lang="en-US" altLang="zh-CN" sz="16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KeyCode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、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次数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repeat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、时长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duration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、间隔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sleep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70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6.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滚轮缩放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幅度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magnitude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391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Control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（流程控制）：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IF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判断、等待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526058"/>
                  </a:ext>
                </a:extLst>
              </a:tr>
              <a:tr h="374725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随机等待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sleep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883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2.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循环找图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img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True/False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9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3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B8D7812-E480-2B4D-B4EB-415CBB24A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621089"/>
              </p:ext>
            </p:extLst>
          </p:nvPr>
        </p:nvGraphicFramePr>
        <p:xfrm>
          <a:off x="397164" y="525641"/>
          <a:ext cx="5551054" cy="58067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1054">
                  <a:extLst>
                    <a:ext uri="{9D8B030D-6E8A-4147-A177-3AD203B41FA5}">
                      <a16:colId xmlns:a16="http://schemas.microsoft.com/office/drawing/2014/main" val="2037880838"/>
                    </a:ext>
                  </a:extLst>
                </a:gridCol>
              </a:tblGrid>
              <a:tr h="299003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高斯分布是怎么算的？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307916"/>
                  </a:ext>
                </a:extLst>
              </a:tr>
              <a:tr h="513659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在 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Utils.get_gaussian_offset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方法中，核心代码是这一行：</a:t>
                      </a:r>
                    </a:p>
                    <a:p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random.gauss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(0, 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range_val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/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19564"/>
                  </a:ext>
                </a:extLst>
              </a:tr>
              <a:tr h="116249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数学原理</a:t>
                      </a: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这里使用的是正态分布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第一个参数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(mu=0):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均值，表示随机结果的平均值是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，这意味着大多数点击会落在设定的目标中心点上</a:t>
                      </a: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第二个参数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(sigma=range/3):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标准差，控制数据的离散程度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453858"/>
                  </a:ext>
                </a:extLst>
              </a:tr>
              <a:tr h="202760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为什么要除以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range_val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/ 3)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？</a:t>
                      </a: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这是统计学上的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"3σ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法则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"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：</a:t>
                      </a: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在正态分布中，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99.7%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的数据会落在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均值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± 3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倍标准差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的范围内</a:t>
                      </a: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如果我们把标准差设为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range / 3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，那么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倍标准差 刚好就是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range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这保证了随机生成的偏移量几乎永远不会超过设定的 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range_val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，同时让落点紧密围绕在中心，越靠近边缘概率越低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76248"/>
                  </a:ext>
                </a:extLst>
              </a:tr>
              <a:tr h="1295677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3.</a:t>
                      </a: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均匀分布：点击点会均匀地散布在方框里</a:t>
                      </a:r>
                    </a:p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高斯分布：点击点密密麻麻地集中在中心，只有极少数因为“手抖”偏离较远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86438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EF7E1B9-B1E4-07AD-31BE-6EBE7B2C8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483693"/>
              </p:ext>
            </p:extLst>
          </p:nvPr>
        </p:nvGraphicFramePr>
        <p:xfrm>
          <a:off x="6243784" y="525641"/>
          <a:ext cx="5800434" cy="58067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0434">
                  <a:extLst>
                    <a:ext uri="{9D8B030D-6E8A-4147-A177-3AD203B41FA5}">
                      <a16:colId xmlns:a16="http://schemas.microsoft.com/office/drawing/2014/main" val="2037880838"/>
                    </a:ext>
                  </a:extLst>
                </a:gridCol>
              </a:tblGrid>
              <a:tr h="349273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get_fixed_coordinate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工作方式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307916"/>
                  </a:ext>
                </a:extLst>
              </a:tr>
              <a:tr h="12682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假设调用了这行代码：</a:t>
                      </a:r>
                    </a:p>
                    <a:p>
                      <a:pPr>
                        <a:lnSpc>
                          <a:spcPts val="1425"/>
                        </a:lnSpc>
                        <a:buNone/>
                      </a:pPr>
                      <a:r>
                        <a:rPr lang="en-US" altLang="zh-CN" sz="1600" b="0" dirty="0" err="1">
                          <a:solidFill>
                            <a:srgbClr val="9CDCFE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tx</a:t>
                      </a:r>
                      <a:r>
                        <a:rPr lang="en-US" altLang="zh-CN" sz="1600" b="0" dirty="0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b="0" dirty="0">
                          <a:solidFill>
                            <a:srgbClr val="9CDCFE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ty</a:t>
                      </a:r>
                      <a:r>
                        <a:rPr lang="en-US" altLang="zh-CN" sz="1600" b="0" dirty="0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0" dirty="0">
                          <a:solidFill>
                            <a:srgbClr val="D4D4D4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1600" b="0" dirty="0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0" dirty="0" err="1">
                          <a:solidFill>
                            <a:srgbClr val="9CDCFE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self</a:t>
                      </a:r>
                      <a:r>
                        <a:rPr lang="en-US" altLang="zh-CN" sz="1600" b="0" dirty="0" err="1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600" b="0" dirty="0" err="1">
                          <a:solidFill>
                            <a:srgbClr val="9CDCFE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target</a:t>
                      </a:r>
                      <a:r>
                        <a:rPr lang="en-US" altLang="zh-CN" sz="1600" b="0" dirty="0" err="1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600" b="0" dirty="0" err="1">
                          <a:solidFill>
                            <a:srgbClr val="DCDCAA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get_fixed_coordinate</a:t>
                      </a:r>
                      <a:r>
                        <a:rPr lang="en-US" altLang="zh-CN" sz="1600" b="0" dirty="0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0" dirty="0">
                          <a:solidFill>
                            <a:srgbClr val="9CDCFE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600" b="0" dirty="0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b="0" dirty="0">
                          <a:solidFill>
                            <a:srgbClr val="9CDCFE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600" b="0" dirty="0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b="0" dirty="0" err="1">
                          <a:solidFill>
                            <a:srgbClr val="9CDCFE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random_range</a:t>
                      </a:r>
                      <a:r>
                        <a:rPr lang="en-US" altLang="zh-CN" sz="1600" b="0" dirty="0">
                          <a:solidFill>
                            <a:srgbClr val="CCCCCC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  <a:endParaRPr kumimoji="0" lang="en-US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#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点击屏幕上的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(100, 200)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位置，允许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9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像素的随机误差</a:t>
                      </a:r>
                    </a:p>
                    <a:p>
                      <a:pPr lvl="0"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tx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, ty </a:t>
                      </a:r>
                      <a:r>
                        <a:rPr lang="en-US" altLang="zh-CN" sz="16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= </a:t>
                      </a:r>
                      <a:r>
                        <a:rPr lang="en-US" altLang="zh-CN" sz="1600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self.target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get_fixed_coordinate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(100, 200, </a:t>
                      </a:r>
                      <a:r>
                        <a:rPr kumimoji="0" lang="en-US" altLang="zh-C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random_range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=9)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19564"/>
                  </a:ext>
                </a:extLst>
              </a:tr>
              <a:tr h="2381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基准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X = 100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；基准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Y = 200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；范围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R = 9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；标准差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σ=9/3=3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生成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X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轴偏移：调用 </a:t>
                      </a:r>
                      <a:r>
                        <a:rPr kumimoji="0" lang="en-US" altLang="zh-C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random.gauss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(0, 3)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假设这次比较普通，生成了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1.2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offset_x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 = 1 (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取整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)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生成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Y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轴偏移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: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调用 </a:t>
                      </a:r>
                      <a:r>
                        <a:rPr kumimoji="0" lang="en-US" altLang="zh-C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random.gauss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(0, 3)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假设这次“手抖”比较厉害生成了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-4.8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代码里的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max/min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逻辑会检查是否超过范围（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-9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到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9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）</a:t>
                      </a:r>
                      <a:endParaRPr kumimoji="0" lang="en-US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-4.8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没超，</a:t>
                      </a:r>
                      <a:r>
                        <a:rPr kumimoji="0" lang="en-US" altLang="zh-C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offset_y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 = -5 (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取整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)</a:t>
                      </a:r>
                    </a:p>
                    <a:p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453858"/>
                  </a:ext>
                </a:extLst>
              </a:tr>
              <a:tr h="1807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最终计算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Final X = 100 + 1 = 101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Final Y = 200 + (-5) = 195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结果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: </a:t>
                      </a: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函数返回 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(101, 195)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76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81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5748-D0FD-2B96-B692-64439BAF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720ED38-D6C5-4423-CF63-EEAC06E62958}"/>
              </a:ext>
            </a:extLst>
          </p:cNvPr>
          <p:cNvSpPr txBox="1"/>
          <p:nvPr/>
        </p:nvSpPr>
        <p:spPr>
          <a:xfrm>
            <a:off x="475130" y="921332"/>
            <a:ext cx="9161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  <a:hlinkClick r:id="rId2"/>
              </a:rPr>
              <a:t>https://learn.microsoft.com/en-us/windows/win32/api/winuser/ns-winuser-msllhookstruct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  <a:hlinkClick r:id="rId3"/>
              </a:rPr>
              <a:t>https://learn.microsoft.com/zh-cn/windows/win32/api/winuser/ns-winuser-kbdllhookstruct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65EE3D-ECE4-2827-F814-E19B0A3659B6}"/>
              </a:ext>
            </a:extLst>
          </p:cNvPr>
          <p:cNvSpPr txBox="1"/>
          <p:nvPr/>
        </p:nvSpPr>
        <p:spPr>
          <a:xfrm>
            <a:off x="385483" y="1550984"/>
            <a:ext cx="50919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typedef struct tagMSLLHOOKSTRUCT {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POINT     pt;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鼠标坐标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(x, y)</a:t>
            </a:r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DWORD     mouseData;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滚轮数据或侧键数据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DWORD     flags;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标志位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DWORD     time;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时间戳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ULONG_PTR dwExtraInfo;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} MSLLHOOKSTRUCT, *LPMSLLHOOKSTRUCT, *PMSLLHOOKSTRUCT;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55794E-AC9B-CF7B-50C6-6CC1ED3772A7}"/>
              </a:ext>
            </a:extLst>
          </p:cNvPr>
          <p:cNvSpPr txBox="1"/>
          <p:nvPr/>
        </p:nvSpPr>
        <p:spPr>
          <a:xfrm>
            <a:off x="6096000" y="1537598"/>
            <a:ext cx="54774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typedef struct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tagKBDLLHOOKSTRUCT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DWORD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vkCode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 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虚拟键码，范围为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到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254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DWORD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scanCode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 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键的硬件扫描码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DWORD flags; 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标志位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DWORD time; 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时间戳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ULONG_PTR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dwExtraInfo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 //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与消息关联的额外信息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} KBDLLHOOKSTRUCT, *LPKBDLLHOOKSTRUCT, *PKBDLLHOOKSTRUCT;</a:t>
            </a:r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89B7C0C-4BAC-C804-B446-FD704AF2F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492090"/>
              </p:ext>
            </p:extLst>
          </p:nvPr>
        </p:nvGraphicFramePr>
        <p:xfrm>
          <a:off x="2559426" y="3991197"/>
          <a:ext cx="7077633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586">
                  <a:extLst>
                    <a:ext uri="{9D8B030D-6E8A-4147-A177-3AD203B41FA5}">
                      <a16:colId xmlns:a16="http://schemas.microsoft.com/office/drawing/2014/main" val="1537971831"/>
                    </a:ext>
                  </a:extLst>
                </a:gridCol>
                <a:gridCol w="2770094">
                  <a:extLst>
                    <a:ext uri="{9D8B030D-6E8A-4147-A177-3AD203B41FA5}">
                      <a16:colId xmlns:a16="http://schemas.microsoft.com/office/drawing/2014/main" val="2037907025"/>
                    </a:ext>
                  </a:extLst>
                </a:gridCol>
                <a:gridCol w="2805953">
                  <a:extLst>
                    <a:ext uri="{9D8B030D-6E8A-4147-A177-3AD203B41FA5}">
                      <a16:colId xmlns:a16="http://schemas.microsoft.com/office/drawing/2014/main" val="1401299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鼠标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键盘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0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LLMHF_INJECTED</a:t>
                      </a:r>
                      <a:endParaRPr lang="zh-CN" altLang="en-US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LLKHF_INJECTED</a:t>
                      </a:r>
                      <a:endParaRPr lang="zh-CN" altLang="en-US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638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检测位位置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第</a:t>
                      </a:r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第</a:t>
                      </a:r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4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09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0x00000001</a:t>
                      </a:r>
                      <a:endParaRPr lang="zh-CN" altLang="en-US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0x00000010</a:t>
                      </a:r>
                      <a:endParaRPr lang="zh-CN" altLang="en-US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0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i="0" dirty="0">
                          <a:solidFill>
                            <a:srgbClr val="24292F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0000 0000 0000 0000 0000 0000 0000 0001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i="0" dirty="0">
                          <a:solidFill>
                            <a:srgbClr val="24292F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0000 0000 0000 0000 0000 0000 0001 0000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969965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3F57490-444F-4520-2119-B3CB5849BC91}"/>
              </a:ext>
            </a:extLst>
          </p:cNvPr>
          <p:cNvSpPr txBox="1"/>
          <p:nvPr/>
        </p:nvSpPr>
        <p:spPr>
          <a:xfrm>
            <a:off x="3827929" y="3521913"/>
            <a:ext cx="45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检测位为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表示软件模拟，为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表示物理操作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918FCD-18FE-AAC1-A76C-9DE116290301}"/>
              </a:ext>
            </a:extLst>
          </p:cNvPr>
          <p:cNvSpPr txBox="1"/>
          <p:nvPr/>
        </p:nvSpPr>
        <p:spPr>
          <a:xfrm>
            <a:off x="475130" y="3418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zh-CN" altLang="en-US" b="1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有关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标志位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LLMHF_INJECTED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LLKHF_INJECTED</a:t>
            </a:r>
          </a:p>
        </p:txBody>
      </p:sp>
    </p:spTree>
    <p:extLst>
      <p:ext uri="{BB962C8B-B14F-4D97-AF65-F5344CB8AC3E}">
        <p14:creationId xmlns:p14="http://schemas.microsoft.com/office/powerpoint/2010/main" val="3598848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1AE1500-D22E-B77A-5927-7915D08D201C}"/>
              </a:ext>
            </a:extLst>
          </p:cNvPr>
          <p:cNvSpPr txBox="1"/>
          <p:nvPr/>
        </p:nvSpPr>
        <p:spPr>
          <a:xfrm>
            <a:off x="510988" y="3487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既然我能读取这些标志位，那我有没有办法修改呢？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0CB248-964D-D36B-8E23-92E18B4CD3C3}"/>
              </a:ext>
            </a:extLst>
          </p:cNvPr>
          <p:cNvSpPr txBox="1"/>
          <p:nvPr/>
        </p:nvSpPr>
        <p:spPr>
          <a:xfrm>
            <a:off x="1075764" y="1145507"/>
            <a:ext cx="9511553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在用户层的钩子中，无法通过修改这个数值来“清洗”掉 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LLMHF_INJECTED 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标志位</a:t>
            </a:r>
            <a:endParaRPr lang="en-US" altLang="zh-CN" b="0" i="0" dirty="0">
              <a:solidFill>
                <a:srgbClr val="24292F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l">
              <a:spcAft>
                <a:spcPts val="150"/>
              </a:spcAft>
              <a:buNone/>
            </a:pPr>
            <a:endParaRPr lang="zh-CN" altLang="en-US" b="0" i="0" dirty="0">
              <a:solidFill>
                <a:srgbClr val="24292F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l">
              <a:spcAft>
                <a:spcPts val="150"/>
              </a:spcAft>
              <a:buNone/>
            </a:pP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1.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为什么在 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Python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钩子里修改无效？</a:t>
            </a:r>
          </a:p>
          <a:p>
            <a:pPr algn="l">
              <a:spcAft>
                <a:spcPts val="150"/>
              </a:spcAft>
              <a:buNone/>
            </a:pP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当通过 </a:t>
            </a:r>
            <a:r>
              <a:rPr lang="en-US" altLang="zh-CN" b="0" i="0" dirty="0" err="1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SetWindowsHookEx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安装钩子时，程序处于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【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观测者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】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的位置，而不是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【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控制者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】</a:t>
            </a:r>
          </a:p>
          <a:p>
            <a:pPr algn="l">
              <a:spcAft>
                <a:spcPts val="150"/>
              </a:spcAft>
              <a:buNone/>
            </a:pPr>
            <a:endParaRPr lang="zh-CN" altLang="en-US" b="0" i="0" dirty="0">
              <a:solidFill>
                <a:srgbClr val="24292F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l">
              <a:spcAft>
                <a:spcPts val="150"/>
              </a:spcAft>
              <a:buNone/>
            </a:pP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A.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数据的只读性：</a:t>
            </a:r>
            <a:b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</a:b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操作系统调用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user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的回调函数时，传递给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user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的是当前输入事件的一个副本或者临时的内存视图。即使在这一行代码里把 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flags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改成了 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，操作系统在回调函数结束后，依然会把原始的消息传递给下一个钩子或目标窗口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改的只是变量里的值，不是系统消息队列里的值。</a:t>
            </a:r>
            <a:endParaRPr lang="en-US" altLang="zh-CN" b="0" i="0" dirty="0">
              <a:solidFill>
                <a:srgbClr val="24292F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l">
              <a:spcAft>
                <a:spcPts val="150"/>
              </a:spcAft>
              <a:buNone/>
            </a:pPr>
            <a:endParaRPr lang="en-US" altLang="zh-CN" b="0" i="0" dirty="0">
              <a:solidFill>
                <a:srgbClr val="24292F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l">
              <a:spcAft>
                <a:spcPts val="150"/>
              </a:spcAft>
              <a:buNone/>
            </a:pP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B.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内核的“烙印”：</a:t>
            </a:r>
            <a:b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</a:b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LLMHF_INJECTED 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标志位不是在消息传递过程中贴上去的，而是在输入的源头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——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内核层的 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win32k.sys 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中就打上的。</a:t>
            </a:r>
          </a:p>
          <a:p>
            <a:pPr algn="l">
              <a:spcAft>
                <a:spcPts val="150"/>
              </a:spcAft>
              <a:buNone/>
            </a:pP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如果信号来自 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USB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端口中断 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-&gt;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内核标记为“物理”；</a:t>
            </a:r>
          </a:p>
          <a:p>
            <a:pPr algn="l">
              <a:spcAft>
                <a:spcPts val="150"/>
              </a:spcAft>
              <a:buNone/>
            </a:pP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如果信号来自 </a:t>
            </a:r>
            <a:r>
              <a:rPr lang="en-US" altLang="zh-CN" b="0" i="0" dirty="0" err="1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SendInput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API -&gt;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内核标记为“注入”。</a:t>
            </a:r>
            <a:b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</a:br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这个标记伴随该消息的一生，用户层的钩子处于接收端，无法回溯去修改内核中的属性。</a:t>
            </a:r>
          </a:p>
        </p:txBody>
      </p:sp>
    </p:spTree>
    <p:extLst>
      <p:ext uri="{BB962C8B-B14F-4D97-AF65-F5344CB8AC3E}">
        <p14:creationId xmlns:p14="http://schemas.microsoft.com/office/powerpoint/2010/main" val="1959902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39B14-C709-FC21-EB3A-2064B1BDF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373D873-611E-8077-5915-8C06AE564CE9}"/>
              </a:ext>
            </a:extLst>
          </p:cNvPr>
          <p:cNvSpPr txBox="1"/>
          <p:nvPr/>
        </p:nvSpPr>
        <p:spPr>
          <a:xfrm>
            <a:off x="510988" y="3487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既然我能读取这些标志位，那我有没有办法修改呢？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6235DF-9969-1E19-02CC-C5F84464B9D9}"/>
              </a:ext>
            </a:extLst>
          </p:cNvPr>
          <p:cNvSpPr txBox="1"/>
          <p:nvPr/>
        </p:nvSpPr>
        <p:spPr>
          <a:xfrm>
            <a:off x="1075764" y="1145507"/>
            <a:ext cx="9816354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2. 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真正能“修改”标志位的方法</a:t>
            </a:r>
          </a:p>
          <a:p>
            <a:pPr>
              <a:spcAft>
                <a:spcPts val="150"/>
              </a:spcAft>
            </a:pP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既然用户层改不了，要去掉这个标志，必须介入到生成标志的环节，或者在内核层拦截并修改它</a:t>
            </a:r>
            <a:endParaRPr lang="en-US" altLang="zh-CN" dirty="0">
              <a:solidFill>
                <a:srgbClr val="24292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spcAft>
                <a:spcPts val="150"/>
              </a:spcAft>
            </a:pPr>
            <a:endParaRPr lang="zh-CN" altLang="en-US" dirty="0">
              <a:solidFill>
                <a:srgbClr val="24292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spcAft>
                <a:spcPts val="150"/>
              </a:spcAft>
            </a:pP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A. 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拦截驱动：</a:t>
            </a:r>
            <a:endParaRPr lang="en-US" altLang="zh-CN" dirty="0">
              <a:solidFill>
                <a:srgbClr val="24292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spcAft>
                <a:spcPts val="150"/>
              </a:spcAft>
            </a:pP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这是唯一一种软件层面能“修改”标志位的可行方案。需要安装一个内核驱动（如 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keyboard.sys 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的过滤驱动）。这个驱动位于硬件驱动和操作系统 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API 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之间。</a:t>
            </a:r>
          </a:p>
          <a:p>
            <a:pPr>
              <a:spcAft>
                <a:spcPts val="150"/>
              </a:spcAft>
            </a:pP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当 </a:t>
            </a:r>
            <a:r>
              <a:rPr lang="en-US" altLang="zh-CN" dirty="0" err="1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SendInput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发送信号下来时，驱动拦截它，并在内核层将该数据包的 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Flags 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字段强制清零，再将修改后的数据包重新注入输入流。</a:t>
            </a:r>
          </a:p>
          <a:p>
            <a:pPr>
              <a:spcAft>
                <a:spcPts val="150"/>
              </a:spcAft>
            </a:pP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现成案例：著名的开源驱动库 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Interception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，它的工作原理就是让驱动接管输入设备，因此通过它发送的指令，可以绕过 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LLMHF_INJECTED 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标记。</a:t>
            </a:r>
            <a:endParaRPr lang="en-US" altLang="zh-CN" dirty="0">
              <a:solidFill>
                <a:srgbClr val="24292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spcAft>
                <a:spcPts val="150"/>
              </a:spcAft>
            </a:pPr>
            <a:endParaRPr lang="zh-CN" altLang="en-US" dirty="0">
              <a:solidFill>
                <a:srgbClr val="24292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spcAft>
                <a:spcPts val="150"/>
              </a:spcAft>
            </a:pP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B. 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硬件层：</a:t>
            </a:r>
            <a:endParaRPr lang="en-US" altLang="zh-CN" dirty="0">
              <a:solidFill>
                <a:srgbClr val="24292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spcAft>
                <a:spcPts val="150"/>
              </a:spcAft>
            </a:pP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Arduino/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单片机方案：发指令给单片机，单片机作为真实的 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USB 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键盘向 </a:t>
            </a:r>
            <a:r>
              <a:rPr lang="en-US" altLang="zh-CN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PC 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发送电信号，对于操作系统来说，这就是物理输入，根本不存在“修改标志位”的问题，因为它天生就是物理的。</a:t>
            </a:r>
          </a:p>
        </p:txBody>
      </p:sp>
    </p:spTree>
    <p:extLst>
      <p:ext uri="{BB962C8B-B14F-4D97-AF65-F5344CB8AC3E}">
        <p14:creationId xmlns:p14="http://schemas.microsoft.com/office/powerpoint/2010/main" val="369132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859F-F125-056E-C73A-0EBA4D9A4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8EEA54-DF3C-32EE-1E7D-CFCCEFDE9FEC}"/>
              </a:ext>
            </a:extLst>
          </p:cNvPr>
          <p:cNvSpPr txBox="1"/>
          <p:nvPr/>
        </p:nvSpPr>
        <p:spPr>
          <a:xfrm>
            <a:off x="1210235" y="618128"/>
            <a:ext cx="530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有关识图：</a:t>
            </a:r>
            <a:r>
              <a:rPr lang="zh-CN" altLang="en-US" dirty="0">
                <a:solidFill>
                  <a:srgbClr val="24292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人眼与系统的视觉呈现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18C4C1F4-E78B-DA46-77AC-9444A4BCB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654046"/>
                  </p:ext>
                </p:extLst>
              </p:nvPr>
            </p:nvGraphicFramePr>
            <p:xfrm>
              <a:off x="838200" y="1238922"/>
              <a:ext cx="10515600" cy="393192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14228417"/>
                        </a:ext>
                      </a:extLst>
                    </a:gridCol>
                    <a:gridCol w="2350994">
                      <a:extLst>
                        <a:ext uri="{9D8B030D-6E8A-4147-A177-3AD203B41FA5}">
                          <a16:colId xmlns:a16="http://schemas.microsoft.com/office/drawing/2014/main" val="3606922858"/>
                        </a:ext>
                      </a:extLst>
                    </a:gridCol>
                    <a:gridCol w="3137647">
                      <a:extLst>
                        <a:ext uri="{9D8B030D-6E8A-4147-A177-3AD203B41FA5}">
                          <a16:colId xmlns:a16="http://schemas.microsoft.com/office/drawing/2014/main" val="3358141361"/>
                        </a:ext>
                      </a:extLst>
                    </a:gridCol>
                    <a:gridCol w="2398059">
                      <a:extLst>
                        <a:ext uri="{9D8B030D-6E8A-4147-A177-3AD203B41FA5}">
                          <a16:colId xmlns:a16="http://schemas.microsoft.com/office/drawing/2014/main" val="18138243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场景 </a:t>
                          </a:r>
                          <a:r>
                            <a:rPr lang="en-US" altLang="zh-CN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/ </a:t>
                          </a: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维度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人眼的物理视觉感受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截图文件的信息（像素矩阵）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原因</a:t>
                          </a:r>
                        </a:p>
                      </a:txBody>
                      <a:tcPr marL="99060" marR="99060" anchor="ctr"/>
                    </a:tc>
                    <a:extLst>
                      <a:ext uri="{0D108BD9-81ED-4DB2-BD59-A6C34878D82A}">
                        <a16:rowId xmlns:a16="http://schemas.microsoft.com/office/drawing/2014/main" val="28779577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仅调高分辨率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不改缩放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2k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4k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图标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窗口变得非常小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截取同一个图标，图片像素尺寸不变（如 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>
                                  <a:latin typeface="Cambria Math" panose="02040503050406030204" pitchFamily="18" charset="0"/>
                                  <a:sym typeface="Times New Roman" panose="02020603050405020304" pitchFamily="18" charset="0"/>
                                </a:rPr>
                                <m:t>50×50</m:t>
                              </m:r>
                            </m:oMath>
                          </a14:m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系统按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1:1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真实像素渲染，高分辨率下屏幕像素点更密集，导致物理尺寸变小</a:t>
                          </a:r>
                        </a:p>
                      </a:txBody>
                      <a:tcPr marL="99060" marR="99060" anchor="ctr"/>
                    </a:tc>
                    <a:extLst>
                      <a:ext uri="{0D108BD9-81ED-4DB2-BD59-A6C34878D82A}">
                        <a16:rowId xmlns:a16="http://schemas.microsoft.com/office/drawing/2014/main" val="33708952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调高分辨率 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+ 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提高缩放 </a:t>
                          </a:r>
                          <a:endParaRPr lang="en-US" altLang="zh-CN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4K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，缩放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200%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图标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窗口大小几乎不变，但变清晰了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完全改变，同一个图标的截图尺寸会成倍增加（如变成 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>
                                  <a:latin typeface="Cambria Math" panose="02040503050406030204" pitchFamily="18" charset="0"/>
                                  <a:sym typeface="Times New Roman" panose="02020603050405020304" pitchFamily="18" charset="0"/>
                                </a:rPr>
                                <m:t>100×100</m:t>
                              </m:r>
                            </m:oMath>
                          </a14:m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系统为了维持物理大小，用更多的像素点去“拼凑”同一个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UI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元素</a:t>
                          </a:r>
                        </a:p>
                      </a:txBody>
                      <a:tcPr marL="99060" marR="99060" anchor="ctr"/>
                    </a:tc>
                    <a:extLst>
                      <a:ext uri="{0D108BD9-81ED-4DB2-BD59-A6C34878D82A}">
                        <a16:rowId xmlns:a16="http://schemas.microsoft.com/office/drawing/2014/main" val="39374912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将截图发送到不同电脑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看起来的尺寸通常不一样（在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1080P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上很大，在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4K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上很小）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完全相同，图片文件本身没有任何变化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图片文件只是一堆像素数据，具体显示多大取决于接收方显示器的物理像素密度</a:t>
                          </a:r>
                        </a:p>
                      </a:txBody>
                      <a:tcPr marL="99060" marR="99060" anchor="ctr"/>
                    </a:tc>
                    <a:extLst>
                      <a:ext uri="{0D108BD9-81ED-4DB2-BD59-A6C34878D82A}">
                        <a16:rowId xmlns:a16="http://schemas.microsoft.com/office/drawing/2014/main" val="25586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18C4C1F4-E78B-DA46-77AC-9444A4BCB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654046"/>
                  </p:ext>
                </p:extLst>
              </p:nvPr>
            </p:nvGraphicFramePr>
            <p:xfrm>
              <a:off x="838200" y="1238922"/>
              <a:ext cx="10515600" cy="393192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14228417"/>
                        </a:ext>
                      </a:extLst>
                    </a:gridCol>
                    <a:gridCol w="2350994">
                      <a:extLst>
                        <a:ext uri="{9D8B030D-6E8A-4147-A177-3AD203B41FA5}">
                          <a16:colId xmlns:a16="http://schemas.microsoft.com/office/drawing/2014/main" val="3606922858"/>
                        </a:ext>
                      </a:extLst>
                    </a:gridCol>
                    <a:gridCol w="3137647">
                      <a:extLst>
                        <a:ext uri="{9D8B030D-6E8A-4147-A177-3AD203B41FA5}">
                          <a16:colId xmlns:a16="http://schemas.microsoft.com/office/drawing/2014/main" val="3358141361"/>
                        </a:ext>
                      </a:extLst>
                    </a:gridCol>
                    <a:gridCol w="2398059">
                      <a:extLst>
                        <a:ext uri="{9D8B030D-6E8A-4147-A177-3AD203B41FA5}">
                          <a16:colId xmlns:a16="http://schemas.microsoft.com/office/drawing/2014/main" val="181382431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场景 </a:t>
                          </a:r>
                          <a:r>
                            <a:rPr lang="en-US" altLang="zh-CN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/ </a:t>
                          </a: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维度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人眼的物理视觉感受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截图文件的信息（像素矩阵）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原因</a:t>
                          </a:r>
                        </a:p>
                      </a:txBody>
                      <a:tcPr marL="99060" marR="99060" anchor="ctr"/>
                    </a:tc>
                    <a:extLst>
                      <a:ext uri="{0D108BD9-81ED-4DB2-BD59-A6C34878D82A}">
                        <a16:rowId xmlns:a16="http://schemas.microsoft.com/office/drawing/2014/main" val="28779577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仅调高分辨率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不改缩放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2k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4k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图标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窗口变得非常小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9060" marR="99060" anchor="ctr">
                        <a:blipFill>
                          <a:blip r:embed="rId2"/>
                          <a:stretch>
                            <a:fillRect l="-158835" t="-33333" r="-76893" b="-2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系统按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1:1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真实像素渲染，高分辨率下屏幕像素点更密集，导致物理尺寸变小</a:t>
                          </a:r>
                        </a:p>
                      </a:txBody>
                      <a:tcPr marL="99060" marR="99060" anchor="ctr"/>
                    </a:tc>
                    <a:extLst>
                      <a:ext uri="{0D108BD9-81ED-4DB2-BD59-A6C34878D82A}">
                        <a16:rowId xmlns:a16="http://schemas.microsoft.com/office/drawing/2014/main" val="337089520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调高分辨率 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+ 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提高缩放 </a:t>
                          </a:r>
                          <a:endParaRPr lang="en-US" altLang="zh-CN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4K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，缩放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200%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图标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窗口大小几乎不变，但变清晰了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9060" marR="99060" anchor="ctr">
                        <a:blipFill>
                          <a:blip r:embed="rId2"/>
                          <a:stretch>
                            <a:fillRect l="-158835" t="-132653" r="-76893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系统为了维持物理大小，用更多的像素点去“拼凑”同一个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UI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元素</a:t>
                          </a:r>
                        </a:p>
                      </a:txBody>
                      <a:tcPr marL="99060" marR="99060" anchor="ctr"/>
                    </a:tc>
                    <a:extLst>
                      <a:ext uri="{0D108BD9-81ED-4DB2-BD59-A6C34878D82A}">
                        <a16:rowId xmlns:a16="http://schemas.microsoft.com/office/drawing/2014/main" val="393749126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将截图发送到不同电脑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看起来的尺寸通常不一样（在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1080P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上很大，在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4K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上很小）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完全相同，图片文件本身没有任何变化</a:t>
                          </a:r>
                        </a:p>
                      </a:txBody>
                      <a:tcPr marL="99060" marR="9906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图片文件只是一堆像素数据，具体显示多大取决于接收方显示器的物理像素密度</a:t>
                          </a:r>
                        </a:p>
                      </a:txBody>
                      <a:tcPr marL="99060" marR="99060" anchor="ctr"/>
                    </a:tc>
                    <a:extLst>
                      <a:ext uri="{0D108BD9-81ED-4DB2-BD59-A6C34878D82A}">
                        <a16:rowId xmlns:a16="http://schemas.microsoft.com/office/drawing/2014/main" val="255864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173A3D1F-C7B8-BA92-1BA6-8C5FC1BF1917}"/>
              </a:ext>
            </a:extLst>
          </p:cNvPr>
          <p:cNvSpPr txBox="1"/>
          <p:nvPr/>
        </p:nvSpPr>
        <p:spPr>
          <a:xfrm>
            <a:off x="4195483" y="5619078"/>
            <a:ext cx="530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人眼看起来一样≠图片尺寸一样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278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32AC8-E9DB-1664-1797-B53F7DE98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C717EAB-191E-AC81-84AE-289BF6101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779514"/>
              </p:ext>
            </p:extLst>
          </p:nvPr>
        </p:nvGraphicFramePr>
        <p:xfrm>
          <a:off x="838200" y="2088226"/>
          <a:ext cx="10515600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2549652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29193037"/>
                    </a:ext>
                  </a:extLst>
                </a:gridCol>
                <a:gridCol w="2268071">
                  <a:extLst>
                    <a:ext uri="{9D8B030D-6E8A-4147-A177-3AD203B41FA5}">
                      <a16:colId xmlns:a16="http://schemas.microsoft.com/office/drawing/2014/main" val="352369345"/>
                    </a:ext>
                  </a:extLst>
                </a:gridCol>
                <a:gridCol w="2989729">
                  <a:extLst>
                    <a:ext uri="{9D8B030D-6E8A-4147-A177-3AD203B41FA5}">
                      <a16:colId xmlns:a16="http://schemas.microsoft.com/office/drawing/2014/main" val="353021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系统</a:t>
                      </a:r>
                      <a:r>
                        <a:rPr lang="en-US" altLang="zh-CN" b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/</a:t>
                      </a:r>
                      <a:r>
                        <a:rPr lang="zh-CN" altLang="en-US" b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环境操作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OpenCV</a:t>
                      </a:r>
                      <a:r>
                        <a:rPr lang="zh-CN" altLang="en-US" b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的底层理解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处理算法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处理效果与结论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13333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系统缩放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/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按比例拉伸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像素矩阵的等比例缩放 </a:t>
                      </a:r>
                      <a:endParaRPr 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基础模板匹配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matchTemplate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直接失效（只认绝对像素）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445515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dirty="0"/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2. 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多尺度模板匹配 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图像金字塔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近似处理（通过不断放大缩小去试，受插值算法影响会有轻微偏差）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(?)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286841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非等比例拉伸 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如长宽比改变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像素矩阵的长宽比畸变</a:t>
                      </a:r>
                      <a:endParaRPr 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3.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特征点匹配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(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SIFT/ORB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等算法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等效处理（具备尺度不变性，只认角点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梯度等特征，不受分辨率影响）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36284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025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63EBC-E798-EA16-419A-2AC4C1DB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F47B4B30-63C5-D094-80A4-C43D564864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179285"/>
                  </p:ext>
                </p:extLst>
              </p:nvPr>
            </p:nvGraphicFramePr>
            <p:xfrm>
              <a:off x="1314020" y="886020"/>
              <a:ext cx="9563959" cy="508596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747245">
                      <a:extLst>
                        <a:ext uri="{9D8B030D-6E8A-4147-A177-3AD203B41FA5}">
                          <a16:colId xmlns:a16="http://schemas.microsoft.com/office/drawing/2014/main" val="2123461269"/>
                        </a:ext>
                      </a:extLst>
                    </a:gridCol>
                    <a:gridCol w="2078338">
                      <a:extLst>
                        <a:ext uri="{9D8B030D-6E8A-4147-A177-3AD203B41FA5}">
                          <a16:colId xmlns:a16="http://schemas.microsoft.com/office/drawing/2014/main" val="438198035"/>
                        </a:ext>
                      </a:extLst>
                    </a:gridCol>
                    <a:gridCol w="1912792">
                      <a:extLst>
                        <a:ext uri="{9D8B030D-6E8A-4147-A177-3AD203B41FA5}">
                          <a16:colId xmlns:a16="http://schemas.microsoft.com/office/drawing/2014/main" val="396869389"/>
                        </a:ext>
                      </a:extLst>
                    </a:gridCol>
                    <a:gridCol w="1912792">
                      <a:extLst>
                        <a:ext uri="{9D8B030D-6E8A-4147-A177-3AD203B41FA5}">
                          <a16:colId xmlns:a16="http://schemas.microsoft.com/office/drawing/2014/main" val="875009178"/>
                        </a:ext>
                      </a:extLst>
                    </a:gridCol>
                    <a:gridCol w="1912792">
                      <a:extLst>
                        <a:ext uri="{9D8B030D-6E8A-4147-A177-3AD203B41FA5}">
                          <a16:colId xmlns:a16="http://schemas.microsoft.com/office/drawing/2014/main" val="1376806189"/>
                        </a:ext>
                      </a:extLst>
                    </a:gridCol>
                  </a:tblGrid>
                  <a:tr h="56406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 dirty="0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算法类别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常用具体方法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“匹配度”的实质单位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数值范围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评判标准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2046933478"/>
                      </a:ext>
                    </a:extLst>
                  </a:tr>
                  <a:tr h="80580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模板匹配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基于像素区域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归一化系数 </a:t>
                          </a:r>
                          <a:endParaRPr 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无单位（数学上的相关系数，类似百分比）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altLang="zh-CN" i="1" smtClean="0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0" smtClean="0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d>
                            </m:oMath>
                          </a14:m>
                          <a:r>
                            <a:rPr lang="ar-AE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 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或 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0</m:t>
                                  </m:r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d>
                            </m:oMath>
                          </a14:m>
                          <a:endParaRPr lang="ar-AE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越大越好。接近 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>
                                  <a:latin typeface="Cambria Math" panose="02040503050406030204" pitchFamily="18" charset="0"/>
                                  <a:sym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  <a:sym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  <a:sym typeface="Times New Roman" panose="020206030504050203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 表示完美匹配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2455504968"/>
                      </a:ext>
                    </a:extLst>
                  </a:tr>
                  <a:tr h="56406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zh-CN" altLang="en-US"/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平方差</a:t>
                          </a:r>
                          <a:endParaRPr 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像素亮度差值的平方和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sepChr m:val=","/>
                                    <m:ctrlPr>
                                      <a:rPr lang="ar-AE" altLang="zh-CN" i="1" smtClean="0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越小越好。接近 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>
                                  <a:latin typeface="Cambria Math" panose="02040503050406030204" pitchFamily="18" charset="0"/>
                                  <a:sym typeface="Times New Roman" panose="020206030504050203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 表示完美匹配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3498070170"/>
                      </a:ext>
                    </a:extLst>
                  </a:tr>
                  <a:tr h="80580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特征点匹配 </a:t>
                          </a:r>
                          <a:r>
                            <a:rPr lang="en-US" altLang="zh-CN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基于局部特征</a:t>
                          </a:r>
                          <a:r>
                            <a:rPr lang="en-US" altLang="zh-CN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ORB 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算法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汉明距离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两个二进制特征串的不同比特位数量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  <a:sym typeface="Times New Roman" panose="02020603050405020304" pitchFamily="18" charset="0"/>
                                    </a:rPr>
                                    <m:t>256</m:t>
                                  </m:r>
                                </m:e>
                              </m:d>
                            </m:oMath>
                          </a14:m>
                          <a:r>
                            <a:rPr lang="ar-AE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 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取决于描述子长度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越小越好。通常距离 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>
                                  <a:latin typeface="Cambria Math" panose="02040503050406030204" pitchFamily="18" charset="0"/>
                                  <a:sym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  <a:sym typeface="Times New Roman" panose="02020603050405020304" pitchFamily="18" charset="0"/>
                                </a:rPr>
                                <m:t>30</m:t>
                              </m:r>
                            </m:oMath>
                          </a14:m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 认为是好匹配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577036982"/>
                      </a:ext>
                    </a:extLst>
                  </a:tr>
                  <a:tr h="80580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zh-CN" altLang="en-US"/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SIFT </a:t>
                          </a:r>
                          <a:r>
                            <a:rPr lang="zh-CN" alt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算法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欧氏距离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多维空间中两点间的直线距离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sepChr m:val=","/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越小越好。通常用最近与次近距离比值判定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196285499"/>
                      </a:ext>
                    </a:extLst>
                  </a:tr>
                  <a:tr h="80580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整体相似度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比对整图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SSIM 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结构相似性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结构相似度指数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综合亮度、对比度、结构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sepChr m:val=","/>
                                    <m:ctrlPr>
                                      <a:rPr lang="ar-AE" altLang="zh-CN" i="1" smtClean="0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0" smtClean="0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  <a:sym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ar-AE" altLang="zh-CN" dirty="0">
                                    <a:latin typeface="Times New Roman" panose="02020603050405020304" pitchFamily="18" charset="0"/>
                                    <a:ea typeface="微软雅黑" panose="020B0503020204020204" pitchFamily="34" charset="-122"/>
                                    <a:sym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越大越好。符合人眼直觉，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1.0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为完全一致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3535650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F47B4B30-63C5-D094-80A4-C43D564864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179285"/>
                  </p:ext>
                </p:extLst>
              </p:nvPr>
            </p:nvGraphicFramePr>
            <p:xfrm>
              <a:off x="1314020" y="886020"/>
              <a:ext cx="9563959" cy="508596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747245">
                      <a:extLst>
                        <a:ext uri="{9D8B030D-6E8A-4147-A177-3AD203B41FA5}">
                          <a16:colId xmlns:a16="http://schemas.microsoft.com/office/drawing/2014/main" val="2123461269"/>
                        </a:ext>
                      </a:extLst>
                    </a:gridCol>
                    <a:gridCol w="2078338">
                      <a:extLst>
                        <a:ext uri="{9D8B030D-6E8A-4147-A177-3AD203B41FA5}">
                          <a16:colId xmlns:a16="http://schemas.microsoft.com/office/drawing/2014/main" val="438198035"/>
                        </a:ext>
                      </a:extLst>
                    </a:gridCol>
                    <a:gridCol w="1912792">
                      <a:extLst>
                        <a:ext uri="{9D8B030D-6E8A-4147-A177-3AD203B41FA5}">
                          <a16:colId xmlns:a16="http://schemas.microsoft.com/office/drawing/2014/main" val="396869389"/>
                        </a:ext>
                      </a:extLst>
                    </a:gridCol>
                    <a:gridCol w="1912792">
                      <a:extLst>
                        <a:ext uri="{9D8B030D-6E8A-4147-A177-3AD203B41FA5}">
                          <a16:colId xmlns:a16="http://schemas.microsoft.com/office/drawing/2014/main" val="875009178"/>
                        </a:ext>
                      </a:extLst>
                    </a:gridCol>
                    <a:gridCol w="1912792">
                      <a:extLst>
                        <a:ext uri="{9D8B030D-6E8A-4147-A177-3AD203B41FA5}">
                          <a16:colId xmlns:a16="http://schemas.microsoft.com/office/drawing/2014/main" val="1376806189"/>
                        </a:ext>
                      </a:extLst>
                    </a:gridCol>
                  </a:tblGrid>
                  <a:tr h="56826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 dirty="0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算法类别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常用具体方法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“匹配度”的实质单位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数值范围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sz="1600" b="1"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评判标准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2046933478"/>
                      </a:ext>
                    </a:extLst>
                  </a:tr>
                  <a:tr h="9035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模板匹配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基于像素区域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归一化系数 </a:t>
                          </a:r>
                          <a:endParaRPr 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无单位（数学上的相关系数，类似百分比）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7295" marR="87295" marT="40290" marB="40290" anchor="ctr">
                        <a:blipFill>
                          <a:blip r:embed="rId2"/>
                          <a:stretch>
                            <a:fillRect l="-300318" t="-65101" r="-100637" b="-409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7295" marR="87295" marT="40290" marB="40290" anchor="ctr">
                        <a:blipFill>
                          <a:blip r:embed="rId2"/>
                          <a:stretch>
                            <a:fillRect l="-400318" t="-65101" r="-637" b="-409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5504968"/>
                      </a:ext>
                    </a:extLst>
                  </a:tr>
                  <a:tr h="9035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zh-CN" altLang="en-US"/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平方差</a:t>
                          </a:r>
                          <a:endParaRPr 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像素亮度差值的平方和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7295" marR="87295" marT="40290" marB="40290" anchor="ctr">
                        <a:blipFill>
                          <a:blip r:embed="rId2"/>
                          <a:stretch>
                            <a:fillRect l="-300318" t="-166216" r="-100637" b="-3121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7295" marR="87295" marT="40290" marB="40290" anchor="ctr">
                        <a:blipFill>
                          <a:blip r:embed="rId2"/>
                          <a:stretch>
                            <a:fillRect l="-400318" t="-166216" r="-637" b="-3121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070170"/>
                      </a:ext>
                    </a:extLst>
                  </a:tr>
                  <a:tr h="9035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特征点匹配 </a:t>
                          </a:r>
                          <a:r>
                            <a:rPr lang="en-US" altLang="zh-CN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基于局部特征</a:t>
                          </a:r>
                          <a:r>
                            <a:rPr lang="en-US" altLang="zh-CN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ORB 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算法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汉明距离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两个二进制特征串的不同比特位数量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7295" marR="87295" marT="40290" marB="40290" anchor="ctr">
                        <a:blipFill>
                          <a:blip r:embed="rId2"/>
                          <a:stretch>
                            <a:fillRect l="-300318" t="-266216" r="-100637" b="-2121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7295" marR="87295" marT="40290" marB="40290" anchor="ctr">
                        <a:blipFill>
                          <a:blip r:embed="rId2"/>
                          <a:stretch>
                            <a:fillRect l="-400318" t="-266216" r="-637" b="-2121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7036982"/>
                      </a:ext>
                    </a:extLst>
                  </a:tr>
                  <a:tr h="9035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zh-CN" altLang="en-US"/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SIFT </a:t>
                          </a:r>
                          <a:r>
                            <a:rPr lang="zh-CN" altLang="en-US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算法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欧氏距离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多维空间中两点间的直线距离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7295" marR="87295" marT="40290" marB="40290" anchor="ctr">
                        <a:blipFill>
                          <a:blip r:embed="rId2"/>
                          <a:stretch>
                            <a:fillRect l="-300318" t="-363758" r="-100637" b="-110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越小越好。通常用最近与次近距离比值判定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196285499"/>
                      </a:ext>
                    </a:extLst>
                  </a:tr>
                  <a:tr h="9035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整体相似度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比对整图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SSIM 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结构相似性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结构相似度指数 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综合亮度、对比度、结构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sym typeface="Times New Roman" panose="02020603050405020304" pitchFamily="18" charset="0"/>
                          </a:endParaRPr>
                        </a:p>
                      </a:txBody>
                      <a:tcPr marL="87295" marR="87295" marT="40290" marB="40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7295" marR="87295" marT="40290" marB="40290" anchor="ctr">
                        <a:blipFill>
                          <a:blip r:embed="rId2"/>
                          <a:stretch>
                            <a:fillRect l="-300318" t="-466892" r="-100637" b="-11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越大越好。符合人眼直觉，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1.0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sym typeface="Times New Roman" panose="02020603050405020304" pitchFamily="18" charset="0"/>
                            </a:rPr>
                            <a:t>为完全一致</a:t>
                          </a:r>
                        </a:p>
                      </a:txBody>
                      <a:tcPr marL="87295" marR="87295" marT="40290" marB="40290" anchor="ctr"/>
                    </a:tc>
                    <a:extLst>
                      <a:ext uri="{0D108BD9-81ED-4DB2-BD59-A6C34878D82A}">
                        <a16:rowId xmlns:a16="http://schemas.microsoft.com/office/drawing/2014/main" val="35356505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2038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014B9C8-FE31-FCAE-83C8-9CFFBD83D3D2}"/>
              </a:ext>
            </a:extLst>
          </p:cNvPr>
          <p:cNvSpPr txBox="1"/>
          <p:nvPr/>
        </p:nvSpPr>
        <p:spPr>
          <a:xfrm>
            <a:off x="695239" y="268345"/>
            <a:ext cx="108015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为什么不同策略的“匹配度”在数学上是不对等的？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如果在所有的匹配层（彩色原图、带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Mask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的图、多尺度缩放图、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Canny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边缘图）中强制使用用户在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UI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上填写的同一个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confidence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（如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0.8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），会导致极高的漏报率（该找到的找不到）或误报率（找错位置）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C25D44A-68A3-6B40-E165-22D31310E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610950"/>
              </p:ext>
            </p:extLst>
          </p:nvPr>
        </p:nvGraphicFramePr>
        <p:xfrm>
          <a:off x="1235635" y="1585215"/>
          <a:ext cx="9720729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0729">
                  <a:extLst>
                    <a:ext uri="{9D8B030D-6E8A-4147-A177-3AD203B41FA5}">
                      <a16:colId xmlns:a16="http://schemas.microsoft.com/office/drawing/2014/main" val="2733277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彩色匹配：基准</a:t>
                      </a:r>
                    </a:p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UI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里填写的相似度（如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0.8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）针对这种模式，它计算的是像素颜色的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【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零均值交叉相关性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】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。</a:t>
                      </a:r>
                      <a:endParaRPr lang="en-US" altLang="zh-CN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0.8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代表颜色和纹理有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80%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的重合度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66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2.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多尺度缩放：略微下降</a:t>
                      </a: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当一张图被缩放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1.23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倍时，哪怕算法用再好的插值（如双三次插值），边缘像素也会发生微小的变化。因此，原本在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1:1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比例下能跑到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0.95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的匹配度，在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1.23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倍的最佳缩放下可能只能跑到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0.85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，如果强制用原阈值，可能会错过目标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88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3. Canny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边缘匹配：暴跌</a:t>
                      </a: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彩色图是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【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稠密矩阵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】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：每个像素都有色彩信息</a:t>
                      </a:r>
                      <a:endParaRPr lang="en-US" altLang="zh-CN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Canny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边缘图是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【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稀疏矩阵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】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：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90%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的像素是纯黑的，只有轮廓是白线</a:t>
                      </a: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在稀疏矩阵上做匹配，哪怕是人眼看起来一模一样的两个轮廓，在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OpenCV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计算下的得分也会暴跌。在彩色图上能达到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0.9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相似度的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UI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，转成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Canny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边缘去匹配，得分可能只有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0.5 ~ 0.6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55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4.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带透明通道遮罩：虚高</a:t>
                      </a: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带有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Mask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时，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OpenCV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被迫使用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【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归一化互相关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】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，并且只计算非透明区域。由于计算面积变小了，极其容易和背景中某个碰巧颜色相近的小色块产生极高的得分（虚高）需要更高的阈值来防止误判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671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52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5A41-3EE2-1D58-C0EB-6A892B19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0F9EAAC-BA2D-5E10-82E2-80183DEA0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127552"/>
              </p:ext>
            </p:extLst>
          </p:nvPr>
        </p:nvGraphicFramePr>
        <p:xfrm>
          <a:off x="2757490" y="1452281"/>
          <a:ext cx="8570256" cy="3765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376">
                  <a:extLst>
                    <a:ext uri="{9D8B030D-6E8A-4147-A177-3AD203B41FA5}">
                      <a16:colId xmlns:a16="http://schemas.microsoft.com/office/drawing/2014/main" val="1455750640"/>
                    </a:ext>
                  </a:extLst>
                </a:gridCol>
                <a:gridCol w="1428376">
                  <a:extLst>
                    <a:ext uri="{9D8B030D-6E8A-4147-A177-3AD203B41FA5}">
                      <a16:colId xmlns:a16="http://schemas.microsoft.com/office/drawing/2014/main" val="1125789314"/>
                    </a:ext>
                  </a:extLst>
                </a:gridCol>
                <a:gridCol w="1428376">
                  <a:extLst>
                    <a:ext uri="{9D8B030D-6E8A-4147-A177-3AD203B41FA5}">
                      <a16:colId xmlns:a16="http://schemas.microsoft.com/office/drawing/2014/main" val="514899185"/>
                    </a:ext>
                  </a:extLst>
                </a:gridCol>
                <a:gridCol w="1428376">
                  <a:extLst>
                    <a:ext uri="{9D8B030D-6E8A-4147-A177-3AD203B41FA5}">
                      <a16:colId xmlns:a16="http://schemas.microsoft.com/office/drawing/2014/main" val="4149627464"/>
                    </a:ext>
                  </a:extLst>
                </a:gridCol>
                <a:gridCol w="1428376">
                  <a:extLst>
                    <a:ext uri="{9D8B030D-6E8A-4147-A177-3AD203B41FA5}">
                      <a16:colId xmlns:a16="http://schemas.microsoft.com/office/drawing/2014/main" val="2107051684"/>
                    </a:ext>
                  </a:extLst>
                </a:gridCol>
                <a:gridCol w="1428376">
                  <a:extLst>
                    <a:ext uri="{9D8B030D-6E8A-4147-A177-3AD203B41FA5}">
                      <a16:colId xmlns:a16="http://schemas.microsoft.com/office/drawing/2014/main" val="4024437803"/>
                    </a:ext>
                  </a:extLst>
                </a:gridCol>
              </a:tblGrid>
              <a:tr h="311971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466755"/>
                  </a:ext>
                </a:extLst>
              </a:tr>
              <a:tr h="645459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1.00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0.85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0.86</a:t>
                      </a:r>
                    </a:p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0.47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0.82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0.50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0.41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237190"/>
                  </a:ext>
                </a:extLst>
              </a:tr>
            </a:tbl>
          </a:graphicData>
        </a:graphic>
      </p:graphicFrame>
      <p:sp>
        <p:nvSpPr>
          <p:cNvPr id="5" name="星形: 五角 4">
            <a:extLst>
              <a:ext uri="{FF2B5EF4-FFF2-40B4-BE49-F238E27FC236}">
                <a16:creationId xmlns:a16="http://schemas.microsoft.com/office/drawing/2014/main" id="{AD396299-AF41-466A-43D9-167DBBD8565E}"/>
              </a:ext>
            </a:extLst>
          </p:cNvPr>
          <p:cNvSpPr/>
          <p:nvPr/>
        </p:nvSpPr>
        <p:spPr>
          <a:xfrm>
            <a:off x="8826020" y="2046340"/>
            <a:ext cx="636494" cy="60222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星形: 五角 5">
            <a:extLst>
              <a:ext uri="{FF2B5EF4-FFF2-40B4-BE49-F238E27FC236}">
                <a16:creationId xmlns:a16="http://schemas.microsoft.com/office/drawing/2014/main" id="{304EBCD1-B019-A5BB-7AC0-EE644F7A9909}"/>
              </a:ext>
            </a:extLst>
          </p:cNvPr>
          <p:cNvSpPr/>
          <p:nvPr/>
        </p:nvSpPr>
        <p:spPr>
          <a:xfrm>
            <a:off x="7214632" y="1890864"/>
            <a:ext cx="1004338" cy="95025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D7D42645-132B-6EDB-9E8D-BE83B72C5B4F}"/>
              </a:ext>
            </a:extLst>
          </p:cNvPr>
          <p:cNvSpPr/>
          <p:nvPr/>
        </p:nvSpPr>
        <p:spPr>
          <a:xfrm rot="161913">
            <a:off x="5770065" y="1796122"/>
            <a:ext cx="1165411" cy="110265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D5DCC2FB-13D7-3E63-5966-9EB917045DF4}"/>
              </a:ext>
            </a:extLst>
          </p:cNvPr>
          <p:cNvSpPr/>
          <p:nvPr/>
        </p:nvSpPr>
        <p:spPr>
          <a:xfrm>
            <a:off x="10007430" y="1822946"/>
            <a:ext cx="1236692" cy="1102659"/>
          </a:xfrm>
          <a:prstGeom prst="star5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982FB6C2-175D-AA33-06B0-442822F20363}"/>
              </a:ext>
            </a:extLst>
          </p:cNvPr>
          <p:cNvSpPr/>
          <p:nvPr/>
        </p:nvSpPr>
        <p:spPr>
          <a:xfrm>
            <a:off x="4233327" y="1747827"/>
            <a:ext cx="1306694" cy="123633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星形: 五角 1">
            <a:extLst>
              <a:ext uri="{FF2B5EF4-FFF2-40B4-BE49-F238E27FC236}">
                <a16:creationId xmlns:a16="http://schemas.microsoft.com/office/drawing/2014/main" id="{AF45DBDC-0B5C-9308-0535-0DC01501EB0E}"/>
              </a:ext>
            </a:extLst>
          </p:cNvPr>
          <p:cNvSpPr/>
          <p:nvPr/>
        </p:nvSpPr>
        <p:spPr>
          <a:xfrm>
            <a:off x="2919559" y="1814667"/>
            <a:ext cx="1165411" cy="110265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4AE9F1-2096-D847-502C-52255F463AB6}"/>
              </a:ext>
            </a:extLst>
          </p:cNvPr>
          <p:cNvSpPr txBox="1"/>
          <p:nvPr/>
        </p:nvSpPr>
        <p:spPr>
          <a:xfrm>
            <a:off x="3002047" y="546409"/>
            <a:ext cx="52169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一些精确色彩匹配度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confidence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示例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使用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cv2.matchTemplate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 TM_CCOEFF_NORMED</a:t>
            </a:r>
          </a:p>
        </p:txBody>
      </p:sp>
      <p:sp>
        <p:nvSpPr>
          <p:cNvPr id="14" name="星形: 五角 13">
            <a:extLst>
              <a:ext uri="{FF2B5EF4-FFF2-40B4-BE49-F238E27FC236}">
                <a16:creationId xmlns:a16="http://schemas.microsoft.com/office/drawing/2014/main" id="{DDB2094E-3412-C745-6D05-985C2399DBD0}"/>
              </a:ext>
            </a:extLst>
          </p:cNvPr>
          <p:cNvSpPr/>
          <p:nvPr/>
        </p:nvSpPr>
        <p:spPr>
          <a:xfrm rot="1697066">
            <a:off x="5752482" y="3032795"/>
            <a:ext cx="1165411" cy="110265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星形: 五角 3">
            <a:extLst>
              <a:ext uri="{FF2B5EF4-FFF2-40B4-BE49-F238E27FC236}">
                <a16:creationId xmlns:a16="http://schemas.microsoft.com/office/drawing/2014/main" id="{61978495-7E66-F710-8094-E7BA3E70C534}"/>
              </a:ext>
            </a:extLst>
          </p:cNvPr>
          <p:cNvSpPr/>
          <p:nvPr/>
        </p:nvSpPr>
        <p:spPr>
          <a:xfrm>
            <a:off x="1069077" y="1822945"/>
            <a:ext cx="1165411" cy="110265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1B095A-F54A-F2CF-CC8D-10D8E510AC57}"/>
              </a:ext>
            </a:extLst>
          </p:cNvPr>
          <p:cNvSpPr txBox="1"/>
          <p:nvPr/>
        </p:nvSpPr>
        <p:spPr>
          <a:xfrm>
            <a:off x="1342629" y="3061446"/>
            <a:ext cx="20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原图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A41DB6-66B7-35C6-47A1-ABE6D81ED905}"/>
              </a:ext>
            </a:extLst>
          </p:cNvPr>
          <p:cNvSpPr txBox="1"/>
          <p:nvPr/>
        </p:nvSpPr>
        <p:spPr>
          <a:xfrm>
            <a:off x="902500" y="4670611"/>
            <a:ext cx="20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与原图的匹配度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3D13A8-E7A6-F0A1-4299-D25DFD446817}"/>
              </a:ext>
            </a:extLst>
          </p:cNvPr>
          <p:cNvSpPr txBox="1"/>
          <p:nvPr/>
        </p:nvSpPr>
        <p:spPr>
          <a:xfrm>
            <a:off x="699247" y="5476998"/>
            <a:ext cx="11492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OpenCV 的 TM_CCOEFF_NORMED（归一化相关系数匹配）衡量的是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【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两个图像矩阵在去均值后的线性相关性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】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只看“像素级别的亮度/色彩起伏规律”</a:t>
            </a:r>
          </a:p>
        </p:txBody>
      </p:sp>
    </p:spTree>
    <p:extLst>
      <p:ext uri="{BB962C8B-B14F-4D97-AF65-F5344CB8AC3E}">
        <p14:creationId xmlns:p14="http://schemas.microsoft.com/office/powerpoint/2010/main" val="1993145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0DEF21E-9930-3091-FC54-D07C7007E087}"/>
              </a:ext>
            </a:extLst>
          </p:cNvPr>
          <p:cNvSpPr txBox="1"/>
          <p:nvPr/>
        </p:nvSpPr>
        <p:spPr>
          <a:xfrm>
            <a:off x="806824" y="7969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一些定性描述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0DFA853-83F7-9D20-2EDA-F387FF927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446568"/>
              </p:ext>
            </p:extLst>
          </p:nvPr>
        </p:nvGraphicFramePr>
        <p:xfrm>
          <a:off x="681317" y="1638300"/>
          <a:ext cx="10829365" cy="3581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678">
                  <a:extLst>
                    <a:ext uri="{9D8B030D-6E8A-4147-A177-3AD203B41FA5}">
                      <a16:colId xmlns:a16="http://schemas.microsoft.com/office/drawing/2014/main" val="45441168"/>
                    </a:ext>
                  </a:extLst>
                </a:gridCol>
                <a:gridCol w="3221251">
                  <a:extLst>
                    <a:ext uri="{9D8B030D-6E8A-4147-A177-3AD203B41FA5}">
                      <a16:colId xmlns:a16="http://schemas.microsoft.com/office/drawing/2014/main" val="148455831"/>
                    </a:ext>
                  </a:extLst>
                </a:gridCol>
                <a:gridCol w="3926541">
                  <a:extLst>
                    <a:ext uri="{9D8B030D-6E8A-4147-A177-3AD203B41FA5}">
                      <a16:colId xmlns:a16="http://schemas.microsoft.com/office/drawing/2014/main" val="1010830349"/>
                    </a:ext>
                  </a:extLst>
                </a:gridCol>
                <a:gridCol w="2312895">
                  <a:extLst>
                    <a:ext uri="{9D8B030D-6E8A-4147-A177-3AD203B41FA5}">
                      <a16:colId xmlns:a16="http://schemas.microsoft.com/office/drawing/2014/main" val="2156186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视觉表现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工程场景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05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0.95 - 1.00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完全一模一样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原图、</a:t>
                      </a:r>
                      <a:endParaRPr lang="en-US" altLang="zh-CN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视频流压缩轻微失真、</a:t>
                      </a:r>
                      <a:endParaRPr lang="en-US" altLang="zh-CN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极其微小的抗锯齿变化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毫无疑问是目标本身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93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0.85 - 0.94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肉眼看是同一个东西，但有轻微的物理状态变化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光影亮度微调、</a:t>
                      </a:r>
                      <a:endParaRPr lang="en-US" altLang="zh-CN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微小形变、</a:t>
                      </a:r>
                      <a:endParaRPr lang="en-US" altLang="zh-CN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背景变化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大概率是目标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292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0.70 - 0.84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内部细节或背景有可见的区别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同类但不同内部文字的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UI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、明显变形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假阳性的重灾区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578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0.50 - 0.69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不是同一个东西，但可能有相同的“颜色块”或“线条走向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“红色圆框的叉号”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vs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“红色血条”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绝对不是目标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44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0.00 - 0.49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毫无关联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绝对不是目标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25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673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196DEB-3E46-08E5-2E6A-76CCA9AEF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289" y="1859157"/>
            <a:ext cx="3805422" cy="36579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CA8E82B-D73A-AF58-5C2E-87828EB72173}"/>
              </a:ext>
            </a:extLst>
          </p:cNvPr>
          <p:cNvSpPr txBox="1"/>
          <p:nvPr/>
        </p:nvSpPr>
        <p:spPr>
          <a:xfrm>
            <a:off x="1004048" y="600636"/>
            <a:ext cx="6104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有关罗技驱动（测试中使用了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logitech-g-hub-2021-10-8013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建议开启“登录后自动启动程序”，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必须运行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 HUB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才能正确执行硬件模拟（否则只会空转日志而无实际操作）</a:t>
            </a:r>
          </a:p>
        </p:txBody>
      </p:sp>
    </p:spTree>
    <p:extLst>
      <p:ext uri="{BB962C8B-B14F-4D97-AF65-F5344CB8AC3E}">
        <p14:creationId xmlns:p14="http://schemas.microsoft.com/office/powerpoint/2010/main" val="2159771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238EBF0-0DBD-E992-4013-B1F7BA7FAAE5}"/>
              </a:ext>
            </a:extLst>
          </p:cNvPr>
          <p:cNvSpPr txBox="1"/>
          <p:nvPr/>
        </p:nvSpPr>
        <p:spPr>
          <a:xfrm>
            <a:off x="1004048" y="600636"/>
            <a:ext cx="6104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有关罗技驱动（测试中使用了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logitech-g-hub-2021-10-8013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防止自动更新：取消设置自动更新的勾选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F8A4DED-DF0F-DDD1-1765-8D5A4868C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727386"/>
              </p:ext>
            </p:extLst>
          </p:nvPr>
        </p:nvGraphicFramePr>
        <p:xfrm>
          <a:off x="769504" y="2111372"/>
          <a:ext cx="10652992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9789">
                  <a:extLst>
                    <a:ext uri="{9D8B030D-6E8A-4147-A177-3AD203B41FA5}">
                      <a16:colId xmlns:a16="http://schemas.microsoft.com/office/drawing/2014/main" val="1596808114"/>
                    </a:ext>
                  </a:extLst>
                </a:gridCol>
                <a:gridCol w="6313203">
                  <a:extLst>
                    <a:ext uri="{9D8B030D-6E8A-4147-A177-3AD203B41FA5}">
                      <a16:colId xmlns:a16="http://schemas.microsoft.com/office/drawing/2014/main" val="38238767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不建议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下列方法，会导致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G HUB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卡死无法启动，并持续占用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CPU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建议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下列方法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02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在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C:\Program Files\LGHUB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重命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+mn-ea"/>
                          <a:sym typeface="Times New Roman" panose="02020603050405020304" pitchFamily="18" charset="0"/>
                        </a:rPr>
                        <a:t>名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或删除</a:t>
                      </a:r>
                      <a:r>
                        <a:rPr lang="en-US" altLang="zh-CN" b="0" i="0" dirty="0">
                          <a:solidFill>
                            <a:srgbClr val="24292F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lghub_updater.exe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1. Win + S 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搜索并打开 “</a:t>
                      </a:r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Windows Defender 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防火墙”</a:t>
                      </a:r>
                    </a:p>
                    <a:p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2. 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点击左侧的 “高级设置”，在弹出的窗口左侧，点击 “出站规则”，然后在右侧点击 “新建规则</a:t>
                      </a:r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...”</a:t>
                      </a:r>
                      <a:endParaRPr lang="zh-CN" altLang="en-US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3. 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选择 “程序”，点击“下一步”。</a:t>
                      </a:r>
                    </a:p>
                    <a:p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4. 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选择“此程序路径”，点击“浏览”，找到并选中 </a:t>
                      </a:r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C:\Program Files\LGHUB\lghub_updater.exe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，点击“下一步”</a:t>
                      </a:r>
                    </a:p>
                    <a:p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5. 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选择 “阻止连接”，点击“下一步”</a:t>
                      </a:r>
                    </a:p>
                    <a:p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6. 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勾选所有网络类型（域、专用、公用），点击“下一步”</a:t>
                      </a:r>
                    </a:p>
                    <a:p>
                      <a:r>
                        <a:rPr lang="en-US" altLang="zh-CN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7. 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随便起个名字，点击“完成”</a:t>
                      </a:r>
                    </a:p>
                    <a:p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Win + R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输入 </a:t>
                      </a:r>
                      <a:r>
                        <a:rPr lang="en-US" altLang="zh-CN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services.msc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找到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LGHUB Updater Service</a:t>
                      </a:r>
                    </a:p>
                    <a:p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启动类型设置为禁用</a:t>
                      </a:r>
                      <a:endParaRPr lang="en-US" altLang="zh-CN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190205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DBE3AB57-223A-B444-98A5-4173B9A56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22" y="550334"/>
            <a:ext cx="2451359" cy="139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8181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3717</Words>
  <Application>Microsoft Office PowerPoint</Application>
  <PresentationFormat>宽屏</PresentationFormat>
  <Paragraphs>510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Arial</vt:lpstr>
      <vt:lpstr>Calibri</vt:lpstr>
      <vt:lpstr>Cambria Math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2026-03-20T07:29:01Z</dcterms:created>
  <dcterms:modified xsi:type="dcterms:W3CDTF">2026-03-21T06:36:23Z</dcterms:modified>
  <cp:category/>
</cp:coreProperties>
</file>